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Adewusi" userId="690051662db078c0" providerId="LiveId" clId="{FC8DCB66-8455-447D-9E90-72E4AAB0AAEF}"/>
    <pc:docChg chg="undo custSel modSld">
      <pc:chgData name="Adam Adewusi" userId="690051662db078c0" providerId="LiveId" clId="{FC8DCB66-8455-447D-9E90-72E4AAB0AAEF}" dt="2026-08-21T13:16:51.046" v="21" actId="6549"/>
      <pc:docMkLst>
        <pc:docMk/>
      </pc:docMkLst>
      <pc:sldChg chg="modSp mod">
        <pc:chgData name="Adam Adewusi" userId="690051662db078c0" providerId="LiveId" clId="{FC8DCB66-8455-447D-9E90-72E4AAB0AAEF}" dt="2026-08-21T13:16:51.046" v="21" actId="6549"/>
        <pc:sldMkLst>
          <pc:docMk/>
          <pc:sldMk cId="0" sldId="256"/>
        </pc:sldMkLst>
        <pc:spChg chg="mod">
          <ac:chgData name="Adam Adewusi" userId="690051662db078c0" providerId="LiveId" clId="{FC8DCB66-8455-447D-9E90-72E4AAB0AAEF}" dt="2026-08-21T13:16:51.046" v="21" actId="6549"/>
          <ac:spMkLst>
            <pc:docMk/>
            <pc:sldMk cId="0" sldId="256"/>
            <ac:spMk id="8" creationId="{00000000-0000-0000-0000-000000000000}"/>
          </ac:spMkLst>
        </pc:spChg>
      </pc:sldChg>
      <pc:sldChg chg="modSp mod">
        <pc:chgData name="Adam Adewusi" userId="690051662db078c0" providerId="LiveId" clId="{FC8DCB66-8455-447D-9E90-72E4AAB0AAEF}" dt="2026-08-21T12:03:04.426" v="7" actId="1076"/>
        <pc:sldMkLst>
          <pc:docMk/>
          <pc:sldMk cId="0" sldId="260"/>
        </pc:sldMkLst>
        <pc:spChg chg="mod">
          <ac:chgData name="Adam Adewusi" userId="690051662db078c0" providerId="LiveId" clId="{FC8DCB66-8455-447D-9E90-72E4AAB0AAEF}" dt="2026-08-21T12:02:46.023" v="4"/>
          <ac:spMkLst>
            <pc:docMk/>
            <pc:sldMk cId="0" sldId="260"/>
            <ac:spMk id="5" creationId="{00000000-0000-0000-0000-000000000000}"/>
          </ac:spMkLst>
        </pc:spChg>
        <pc:spChg chg="mod">
          <ac:chgData name="Adam Adewusi" userId="690051662db078c0" providerId="LiveId" clId="{FC8DCB66-8455-447D-9E90-72E4AAB0AAEF}" dt="2026-08-21T12:03:04.426" v="7" actId="1076"/>
          <ac:spMkLst>
            <pc:docMk/>
            <pc:sldMk cId="0" sldId="260"/>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1E2761"/>
            </a:solidFill>
            <a:effectLst/>
          </c:spPr>
          <c:invertIfNegative val="0"/>
          <c:dLbls>
            <c:numFmt formatCode="#,##0" sourceLinked="0"/>
            <c:spPr>
              <a:noFill/>
              <a:ln>
                <a:noFill/>
              </a:ln>
              <a:effectLst/>
            </c:spPr>
            <c:txPr>
              <a:bodyPr/>
              <a:lstStyle/>
              <a:p>
                <a:pPr>
                  <a:defRPr sz="1000" b="0" i="0" u="none" strike="noStrike">
                    <a:solidFill>
                      <a:srgbClr val="1E2761"/>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Capital gain</c:v>
                </c:pt>
                <c:pt idx="1">
                  <c:v>Married (civ. spouse)</c:v>
                </c:pt>
                <c:pt idx="2">
                  <c:v>Education level</c:v>
                </c:pt>
                <c:pt idx="3">
                  <c:v>Age</c:v>
                </c:pt>
                <c:pt idx="4">
                  <c:v>Hours/week</c:v>
                </c:pt>
              </c:strCache>
            </c:strRef>
          </c:cat>
          <c:val>
            <c:numRef>
              <c:f>Sheet1!$B$2:$B$6</c:f>
              <c:numCache>
                <c:formatCode>General</c:formatCode>
                <c:ptCount val="5"/>
                <c:pt idx="0">
                  <c:v>18.600000000000001</c:v>
                </c:pt>
                <c:pt idx="1">
                  <c:v>18.5</c:v>
                </c:pt>
                <c:pt idx="2">
                  <c:v>12.6</c:v>
                </c:pt>
                <c:pt idx="3">
                  <c:v>7.7</c:v>
                </c:pt>
                <c:pt idx="4">
                  <c:v>6.3</c:v>
                </c:pt>
              </c:numCache>
            </c:numRef>
          </c:val>
          <c:extLst>
            <c:ext xmlns:c16="http://schemas.microsoft.com/office/drawing/2014/chart" uri="{C3380CC4-5D6E-409C-BE32-E72D297353CC}">
              <c16:uniqueId val="{00000000-8E48-4682-9898-F360C2607E77}"/>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761"/>
                </a:solidFill>
                <a:latin typeface="Arial"/>
              </a:defRPr>
            </a:pPr>
            <a:endParaRPr lang="en-NG"/>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Positive Prediction Rate</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c:v>
                </c:pt>
                <c:pt idx="1">
                  <c:v>Male</c:v>
                </c:pt>
              </c:strCache>
            </c:strRef>
          </c:cat>
          <c:val>
            <c:numRef>
              <c:f>Sheet1!$B$2:$B$3</c:f>
              <c:numCache>
                <c:formatCode>General</c:formatCode>
                <c:ptCount val="2"/>
                <c:pt idx="0">
                  <c:v>6.9</c:v>
                </c:pt>
                <c:pt idx="1">
                  <c:v>22.1</c:v>
                </c:pt>
              </c:numCache>
            </c:numRef>
          </c:val>
          <c:extLst>
            <c:ext xmlns:c16="http://schemas.microsoft.com/office/drawing/2014/chart" uri="{C3380CC4-5D6E-409C-BE32-E72D297353CC}">
              <c16:uniqueId val="{00000000-E00E-47AC-95E2-C36DEEA4798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761"/>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5E5"/>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 predicted &gt;$50K</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E2761"/>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FNR</c:v>
                </c:pt>
              </c:strCache>
            </c:strRef>
          </c:tx>
          <c:spPr>
            <a:solidFill>
              <a:srgbClr val="F2A65A"/>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White</c:v>
                </c:pt>
                <c:pt idx="1">
                  <c:v>Black</c:v>
                </c:pt>
                <c:pt idx="2">
                  <c:v>Asian-Pac-Isl.</c:v>
                </c:pt>
                <c:pt idx="3">
                  <c:v>Amer-Ind-Esk.</c:v>
                </c:pt>
              </c:strCache>
            </c:strRef>
          </c:cat>
          <c:val>
            <c:numRef>
              <c:f>Sheet1!$B$2:$B$5</c:f>
              <c:numCache>
                <c:formatCode>General</c:formatCode>
                <c:ptCount val="4"/>
                <c:pt idx="0">
                  <c:v>42.4</c:v>
                </c:pt>
                <c:pt idx="1">
                  <c:v>48.8</c:v>
                </c:pt>
                <c:pt idx="2">
                  <c:v>36.4</c:v>
                </c:pt>
                <c:pt idx="3">
                  <c:v>42.9</c:v>
                </c:pt>
              </c:numCache>
            </c:numRef>
          </c:val>
          <c:extLst>
            <c:ext xmlns:c16="http://schemas.microsoft.com/office/drawing/2014/chart" uri="{C3380CC4-5D6E-409C-BE32-E72D297353CC}">
              <c16:uniqueId val="{00000000-EF1B-4C44-B266-F8854AF5143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761"/>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5E5"/>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 of real high-earners missed</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E2761"/>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909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 y="822960"/>
            <a:ext cx="1005840" cy="1005840"/>
          </a:xfrm>
          <a:prstGeom prst="ellipse">
            <a:avLst/>
          </a:prstGeom>
          <a:solidFill>
            <a:srgbClr val="CADCFC"/>
          </a:solidFill>
          <a:ln/>
        </p:spPr>
      </p:sp>
      <p:sp>
        <p:nvSpPr>
          <p:cNvPr id="3" name="Text 1"/>
          <p:cNvSpPr/>
          <p:nvPr/>
        </p:nvSpPr>
        <p:spPr>
          <a:xfrm>
            <a:off x="822960" y="822960"/>
            <a:ext cx="1005840" cy="100584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4" name="Text 2"/>
          <p:cNvSpPr/>
          <p:nvPr/>
        </p:nvSpPr>
        <p:spPr>
          <a:xfrm>
            <a:off x="822960" y="2103120"/>
            <a:ext cx="91440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THE JUDGE</a:t>
            </a:r>
            <a:endParaRPr lang="en-US" sz="4400" dirty="0"/>
          </a:p>
        </p:txBody>
      </p:sp>
      <p:sp>
        <p:nvSpPr>
          <p:cNvPr id="5" name="Text 3"/>
          <p:cNvSpPr/>
          <p:nvPr/>
        </p:nvSpPr>
        <p:spPr>
          <a:xfrm>
            <a:off x="822960" y="2880360"/>
            <a:ext cx="9601200" cy="64008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Bias &amp; Fairness in AI — Predicting Income with the Adult Census Dataset</a:t>
            </a:r>
            <a:endParaRPr lang="en-US" sz="1800" dirty="0"/>
          </a:p>
        </p:txBody>
      </p:sp>
      <p:sp>
        <p:nvSpPr>
          <p:cNvPr id="6" name="Shape 4"/>
          <p:cNvSpPr/>
          <p:nvPr/>
        </p:nvSpPr>
        <p:spPr>
          <a:xfrm>
            <a:off x="822960" y="3657600"/>
            <a:ext cx="4754880" cy="0"/>
          </a:xfrm>
          <a:prstGeom prst="line">
            <a:avLst/>
          </a:prstGeom>
          <a:noFill/>
          <a:ln w="9525">
            <a:solidFill>
              <a:srgbClr val="5B6B9C"/>
            </a:solidFill>
            <a:prstDash val="solid"/>
          </a:ln>
        </p:spPr>
      </p:sp>
      <p:sp>
        <p:nvSpPr>
          <p:cNvPr id="7" name="Text 5"/>
          <p:cNvSpPr/>
          <p:nvPr/>
        </p:nvSpPr>
        <p:spPr>
          <a:xfrm>
            <a:off x="822960" y="3931920"/>
            <a:ext cx="3657600" cy="36576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Group Members</a:t>
            </a:r>
            <a:endParaRPr lang="en-US" sz="1300" dirty="0"/>
          </a:p>
        </p:txBody>
      </p:sp>
      <p:sp>
        <p:nvSpPr>
          <p:cNvPr id="8" name="Text 6"/>
          <p:cNvSpPr/>
          <p:nvPr/>
        </p:nvSpPr>
        <p:spPr>
          <a:xfrm>
            <a:off x="822960" y="4297680"/>
            <a:ext cx="7315200" cy="822960"/>
          </a:xfrm>
          <a:prstGeom prst="rect">
            <a:avLst/>
          </a:prstGeom>
          <a:noFill/>
          <a:ln/>
        </p:spPr>
        <p:txBody>
          <a:bodyPr wrap="square" rtlCol="0" anchor="ctr"/>
          <a:lstStyle/>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Adewusi Adam</a:t>
            </a:r>
            <a:endParaRPr lang="en-US" sz="1400" dirty="0"/>
          </a:p>
          <a:p>
            <a:pPr marL="0" indent="0">
              <a:lnSpc>
                <a:spcPct val="130000"/>
              </a:lnSpc>
              <a:buNone/>
            </a:pPr>
            <a:r>
              <a:rPr lang="en-US" sz="1400" dirty="0" err="1">
                <a:solidFill>
                  <a:srgbClr val="FFFFFF"/>
                </a:solidFill>
                <a:latin typeface="Calibri" pitchFamily="34" charset="0"/>
                <a:ea typeface="Calibri" pitchFamily="34" charset="-122"/>
                <a:cs typeface="Calibri" pitchFamily="34" charset="-120"/>
              </a:rPr>
              <a:t>Enang</a:t>
            </a:r>
            <a:r>
              <a:rPr lang="en-US" sz="1400" dirty="0">
                <a:solidFill>
                  <a:srgbClr val="FFFFFF"/>
                </a:solidFill>
                <a:latin typeface="Calibri" pitchFamily="34" charset="0"/>
                <a:ea typeface="Calibri" pitchFamily="34" charset="-122"/>
                <a:cs typeface="Calibri" pitchFamily="34" charset="-120"/>
              </a:rPr>
              <a:t> </a:t>
            </a:r>
            <a:r>
              <a:rPr lang="en-US" sz="1400" dirty="0" err="1">
                <a:solidFill>
                  <a:srgbClr val="FFFFFF"/>
                </a:solidFill>
                <a:latin typeface="Calibri" pitchFamily="34" charset="0"/>
                <a:ea typeface="Calibri" pitchFamily="34" charset="-122"/>
                <a:cs typeface="Calibri" pitchFamily="34" charset="-120"/>
              </a:rPr>
              <a:t>Rapheal</a:t>
            </a:r>
            <a:endParaRPr lang="en-US" sz="1400" dirty="0">
              <a:solidFill>
                <a:srgbClr val="FFFFFF"/>
              </a:solidFill>
              <a:latin typeface="Calibri" pitchFamily="34" charset="0"/>
              <a:ea typeface="Calibri" pitchFamily="34" charset="-122"/>
              <a:cs typeface="Calibri" pitchFamily="34" charset="-120"/>
            </a:endParaRPr>
          </a:p>
        </p:txBody>
      </p:sp>
      <p:sp>
        <p:nvSpPr>
          <p:cNvPr id="9" name="Text 7"/>
          <p:cNvSpPr/>
          <p:nvPr/>
        </p:nvSpPr>
        <p:spPr>
          <a:xfrm>
            <a:off x="822960" y="6126480"/>
            <a:ext cx="7315200" cy="365760"/>
          </a:xfrm>
          <a:prstGeom prst="rect">
            <a:avLst/>
          </a:prstGeom>
          <a:noFill/>
          <a:ln/>
        </p:spPr>
        <p:txBody>
          <a:bodyPr wrap="square" rtlCol="0" anchor="ctr"/>
          <a:lstStyle/>
          <a:p>
            <a:pPr marL="0" indent="0">
              <a:buNone/>
            </a:pPr>
            <a:r>
              <a:rPr lang="en-US" sz="1100" dirty="0">
                <a:solidFill>
                  <a:srgbClr val="5B6B9C"/>
                </a:solidFill>
                <a:latin typeface="Calibri" pitchFamily="34" charset="0"/>
                <a:ea typeface="Calibri" pitchFamily="34" charset="-122"/>
                <a:cs typeface="Calibri" pitchFamily="34" charset="-120"/>
              </a:rPr>
              <a:t>Data Science with Python — End-to-End Final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Fairness in AI Matters</a:t>
            </a:r>
            <a:endParaRPr lang="en-US" sz="3000" dirty="0"/>
          </a:p>
        </p:txBody>
      </p:sp>
      <p:sp>
        <p:nvSpPr>
          <p:cNvPr id="4" name="Text 2"/>
          <p:cNvSpPr/>
          <p:nvPr/>
        </p:nvSpPr>
        <p:spPr>
          <a:xfrm>
            <a:off x="640080" y="1645920"/>
            <a:ext cx="5486400" cy="2377440"/>
          </a:xfrm>
          <a:prstGeom prst="rect">
            <a:avLst/>
          </a:prstGeom>
          <a:noFill/>
          <a:ln/>
        </p:spPr>
        <p:txBody>
          <a:bodyPr wrap="square" rtlCol="0" anchor="t"/>
          <a:lstStyle/>
          <a:p>
            <a:pPr marL="0" indent="0">
              <a:lnSpc>
                <a:spcPct val="125000"/>
              </a:lnSpc>
              <a:buNone/>
            </a:pPr>
            <a:r>
              <a:rPr lang="en-US" sz="1500" dirty="0">
                <a:solidFill>
                  <a:srgbClr val="1E2761"/>
                </a:solidFill>
                <a:latin typeface="Calibri" pitchFamily="34" charset="0"/>
                <a:ea typeface="Calibri" pitchFamily="34" charset="-122"/>
                <a:cs typeface="Calibri" pitchFamily="34" charset="-120"/>
              </a:rPr>
              <a:t>AI models are increasingly used to make decisions that affect people's lives — loan approvals, hiring, insurance pricing, and credit scoring. When these models learn from historical data, they can absorb and repeat existing social inequalities, even when built with good intentions.</a:t>
            </a:r>
            <a:endParaRPr lang="en-US" sz="1500" dirty="0"/>
          </a:p>
        </p:txBody>
      </p:sp>
      <p:sp>
        <p:nvSpPr>
          <p:cNvPr id="5" name="Text 3"/>
          <p:cNvSpPr/>
          <p:nvPr/>
        </p:nvSpPr>
        <p:spPr>
          <a:xfrm>
            <a:off x="640080" y="4114800"/>
            <a:ext cx="5486400" cy="1463040"/>
          </a:xfrm>
          <a:prstGeom prst="rect">
            <a:avLst/>
          </a:prstGeom>
          <a:noFill/>
          <a:ln/>
        </p:spPr>
        <p:txBody>
          <a:bodyPr wrap="square" rtlCol="0" anchor="t"/>
          <a:lstStyle/>
          <a:p>
            <a:pPr marL="0" indent="0">
              <a:lnSpc>
                <a:spcPct val="125000"/>
              </a:lnSpc>
              <a:buNone/>
            </a:pPr>
            <a:r>
              <a:rPr lang="en-US" sz="1500" b="1" dirty="0">
                <a:solidFill>
                  <a:srgbClr val="1E2761"/>
                </a:solidFill>
                <a:latin typeface="Calibri" pitchFamily="34" charset="0"/>
                <a:ea typeface="Calibri" pitchFamily="34" charset="-122"/>
                <a:cs typeface="Calibri" pitchFamily="34" charset="-120"/>
              </a:rPr>
              <a:t>A common but flawed assumption is that removing a sensitive attribute (like race or sex) from a model's training data automatically makes it fair. This project tests that assumption directly.</a:t>
            </a:r>
            <a:endParaRPr lang="en-US" sz="1500" dirty="0"/>
          </a:p>
        </p:txBody>
      </p:sp>
      <p:sp>
        <p:nvSpPr>
          <p:cNvPr id="6" name="Shape 4"/>
          <p:cNvSpPr/>
          <p:nvPr/>
        </p:nvSpPr>
        <p:spPr>
          <a:xfrm>
            <a:off x="6583680" y="1737360"/>
            <a:ext cx="4937760" cy="1737360"/>
          </a:xfrm>
          <a:prstGeom prst="roundRect">
            <a:avLst>
              <a:gd name="adj" fmla="val 4211"/>
            </a:avLst>
          </a:prstGeom>
          <a:solidFill>
            <a:srgbClr val="CADCFC"/>
          </a:solidFill>
          <a:ln/>
        </p:spPr>
      </p:sp>
      <p:sp>
        <p:nvSpPr>
          <p:cNvPr id="7" name="Text 5"/>
          <p:cNvSpPr/>
          <p:nvPr/>
        </p:nvSpPr>
        <p:spPr>
          <a:xfrm>
            <a:off x="6858000" y="1874520"/>
            <a:ext cx="4389120" cy="822960"/>
          </a:xfrm>
          <a:prstGeom prst="rect">
            <a:avLst/>
          </a:prstGeom>
          <a:noFill/>
          <a:ln/>
        </p:spPr>
        <p:txBody>
          <a:bodyPr wrap="square"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3x</a:t>
            </a:r>
            <a:endParaRPr lang="en-US" sz="4000" dirty="0"/>
          </a:p>
        </p:txBody>
      </p:sp>
      <p:sp>
        <p:nvSpPr>
          <p:cNvPr id="8" name="Text 6"/>
          <p:cNvSpPr/>
          <p:nvPr/>
        </p:nvSpPr>
        <p:spPr>
          <a:xfrm>
            <a:off x="6858000" y="2697480"/>
            <a:ext cx="4389120" cy="685800"/>
          </a:xfrm>
          <a:prstGeom prst="rect">
            <a:avLst/>
          </a:prstGeom>
          <a:noFill/>
          <a:ln/>
        </p:spPr>
        <p:txBody>
          <a:bodyPr wrap="square" rtlCol="0" anchor="ctr"/>
          <a:lstStyle/>
          <a:p>
            <a:pPr marL="0" indent="0">
              <a:buNone/>
            </a:pPr>
            <a:r>
              <a:rPr lang="en-US" sz="1200" dirty="0">
                <a:solidFill>
                  <a:srgbClr val="1E2761"/>
                </a:solidFill>
                <a:latin typeface="Calibri" pitchFamily="34" charset="0"/>
                <a:ea typeface="Calibri" pitchFamily="34" charset="-122"/>
                <a:cs typeface="Calibri" pitchFamily="34" charset="-120"/>
              </a:rPr>
              <a:t>Gap in real-world high-income rate between men and women in our dataset</a:t>
            </a:r>
            <a:endParaRPr lang="en-US" sz="1200" dirty="0"/>
          </a:p>
        </p:txBody>
      </p:sp>
      <p:sp>
        <p:nvSpPr>
          <p:cNvPr id="9" name="Shape 7"/>
          <p:cNvSpPr/>
          <p:nvPr/>
        </p:nvSpPr>
        <p:spPr>
          <a:xfrm>
            <a:off x="6583680" y="3703320"/>
            <a:ext cx="4937760" cy="1737360"/>
          </a:xfrm>
          <a:prstGeom prst="roundRect">
            <a:avLst>
              <a:gd name="adj" fmla="val 4211"/>
            </a:avLst>
          </a:prstGeom>
          <a:solidFill>
            <a:srgbClr val="CADCFC"/>
          </a:solidFill>
          <a:ln/>
        </p:spPr>
      </p:sp>
      <p:sp>
        <p:nvSpPr>
          <p:cNvPr id="10" name="Text 8"/>
          <p:cNvSpPr/>
          <p:nvPr/>
        </p:nvSpPr>
        <p:spPr>
          <a:xfrm>
            <a:off x="6858000" y="3840480"/>
            <a:ext cx="4389120" cy="822960"/>
          </a:xfrm>
          <a:prstGeom prst="rect">
            <a:avLst/>
          </a:prstGeom>
          <a:noFill/>
          <a:ln/>
        </p:spPr>
        <p:txBody>
          <a:bodyPr wrap="square"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48.8%</a:t>
            </a:r>
            <a:endParaRPr lang="en-US" sz="4000" dirty="0"/>
          </a:p>
        </p:txBody>
      </p:sp>
      <p:sp>
        <p:nvSpPr>
          <p:cNvPr id="11" name="Text 9"/>
          <p:cNvSpPr/>
          <p:nvPr/>
        </p:nvSpPr>
        <p:spPr>
          <a:xfrm>
            <a:off x="6858000" y="4663440"/>
            <a:ext cx="4389120" cy="685800"/>
          </a:xfrm>
          <a:prstGeom prst="rect">
            <a:avLst/>
          </a:prstGeom>
          <a:noFill/>
          <a:ln/>
        </p:spPr>
        <p:txBody>
          <a:bodyPr wrap="square" rtlCol="0" anchor="ctr"/>
          <a:lstStyle/>
          <a:p>
            <a:pPr marL="0" indent="0">
              <a:buNone/>
            </a:pPr>
            <a:r>
              <a:rPr lang="en-US" sz="1200" dirty="0">
                <a:solidFill>
                  <a:srgbClr val="1E2761"/>
                </a:solidFill>
                <a:latin typeface="Calibri" pitchFamily="34" charset="0"/>
                <a:ea typeface="Calibri" pitchFamily="34" charset="-122"/>
                <a:cs typeface="Calibri" pitchFamily="34" charset="-120"/>
              </a:rPr>
              <a:t>False Negative Rate for Black individuals — our model's biggest error gap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PART B — STEP 1</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Dataset</a:t>
            </a:r>
            <a:endParaRPr lang="en-US" sz="3000" dirty="0"/>
          </a:p>
        </p:txBody>
      </p:sp>
      <p:sp>
        <p:nvSpPr>
          <p:cNvPr id="4" name="Text 2"/>
          <p:cNvSpPr/>
          <p:nvPr/>
        </p:nvSpPr>
        <p:spPr>
          <a:xfrm>
            <a:off x="640080" y="1600200"/>
            <a:ext cx="5486400" cy="45720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Adult Census Income</a:t>
            </a:r>
            <a:endParaRPr lang="en-US" sz="2000" dirty="0"/>
          </a:p>
        </p:txBody>
      </p:sp>
      <p:sp>
        <p:nvSpPr>
          <p:cNvPr id="5" name="Text 3"/>
          <p:cNvSpPr/>
          <p:nvPr/>
        </p:nvSpPr>
        <p:spPr>
          <a:xfrm>
            <a:off x="640080" y="2103120"/>
            <a:ext cx="5486400" cy="1463040"/>
          </a:xfrm>
          <a:prstGeom prst="rect">
            <a:avLst/>
          </a:prstGeom>
          <a:noFill/>
          <a:ln/>
        </p:spPr>
        <p:txBody>
          <a:bodyPr wrap="square" rtlCol="0" anchor="ctr"/>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Sourced from Kaggle (UCI Machine Learning Repository). Contains U.S. census records with demographic and employment attributes, labeled by whether the individual earns more or less than $50,000/year.</a:t>
            </a:r>
            <a:endParaRPr lang="en-US" sz="1400" dirty="0"/>
          </a:p>
        </p:txBody>
      </p:sp>
      <p:sp>
        <p:nvSpPr>
          <p:cNvPr id="6" name="Shape 4"/>
          <p:cNvSpPr/>
          <p:nvPr/>
        </p:nvSpPr>
        <p:spPr>
          <a:xfrm>
            <a:off x="640080" y="3794760"/>
            <a:ext cx="109728" cy="109728"/>
          </a:xfrm>
          <a:prstGeom prst="ellipse">
            <a:avLst/>
          </a:prstGeom>
          <a:solidFill>
            <a:srgbClr val="F2A65A"/>
          </a:solidFill>
          <a:ln/>
        </p:spPr>
      </p:sp>
      <p:sp>
        <p:nvSpPr>
          <p:cNvPr id="7" name="Text 5"/>
          <p:cNvSpPr/>
          <p:nvPr/>
        </p:nvSpPr>
        <p:spPr>
          <a:xfrm>
            <a:off x="914400" y="3675888"/>
            <a:ext cx="5303520" cy="365760"/>
          </a:xfrm>
          <a:prstGeom prst="rect">
            <a:avLst/>
          </a:prstGeom>
          <a:noFill/>
          <a:ln/>
        </p:spPr>
        <p:txBody>
          <a:bodyPr wrap="square" rtlCol="0" anchor="ctr"/>
          <a:lstStyle/>
          <a:p>
            <a:pPr marL="0" indent="0">
              <a:buNone/>
            </a:pPr>
            <a:r>
              <a:rPr lang="en-US" sz="1300" dirty="0">
                <a:solidFill>
                  <a:srgbClr val="1E2761"/>
                </a:solidFill>
                <a:latin typeface="Calibri" pitchFamily="34" charset="0"/>
                <a:ea typeface="Calibri" pitchFamily="34" charset="-122"/>
                <a:cs typeface="Calibri" pitchFamily="34" charset="-120"/>
              </a:rPr>
              <a:t>Age, education, occupation, hours worked</a:t>
            </a:r>
            <a:endParaRPr lang="en-US" sz="1300" dirty="0"/>
          </a:p>
        </p:txBody>
      </p:sp>
      <p:sp>
        <p:nvSpPr>
          <p:cNvPr id="8" name="Shape 6"/>
          <p:cNvSpPr/>
          <p:nvPr/>
        </p:nvSpPr>
        <p:spPr>
          <a:xfrm>
            <a:off x="640080" y="4251960"/>
            <a:ext cx="109728" cy="109728"/>
          </a:xfrm>
          <a:prstGeom prst="ellipse">
            <a:avLst/>
          </a:prstGeom>
          <a:solidFill>
            <a:srgbClr val="F2A65A"/>
          </a:solidFill>
          <a:ln/>
        </p:spPr>
      </p:sp>
      <p:sp>
        <p:nvSpPr>
          <p:cNvPr id="9" name="Text 7"/>
          <p:cNvSpPr/>
          <p:nvPr/>
        </p:nvSpPr>
        <p:spPr>
          <a:xfrm>
            <a:off x="914400" y="4133088"/>
            <a:ext cx="5303520" cy="365760"/>
          </a:xfrm>
          <a:prstGeom prst="rect">
            <a:avLst/>
          </a:prstGeom>
          <a:noFill/>
          <a:ln/>
        </p:spPr>
        <p:txBody>
          <a:bodyPr wrap="square" rtlCol="0" anchor="ctr"/>
          <a:lstStyle/>
          <a:p>
            <a:pPr marL="0" indent="0">
              <a:buNone/>
            </a:pPr>
            <a:r>
              <a:rPr lang="en-US" sz="1300" dirty="0">
                <a:solidFill>
                  <a:srgbClr val="1E2761"/>
                </a:solidFill>
                <a:latin typeface="Calibri" pitchFamily="34" charset="0"/>
                <a:ea typeface="Calibri" pitchFamily="34" charset="-122"/>
                <a:cs typeface="Calibri" pitchFamily="34" charset="-120"/>
              </a:rPr>
              <a:t>Marital status, relationship, native country</a:t>
            </a:r>
            <a:endParaRPr lang="en-US" sz="1300" dirty="0"/>
          </a:p>
        </p:txBody>
      </p:sp>
      <p:sp>
        <p:nvSpPr>
          <p:cNvPr id="10" name="Shape 8"/>
          <p:cNvSpPr/>
          <p:nvPr/>
        </p:nvSpPr>
        <p:spPr>
          <a:xfrm>
            <a:off x="640080" y="4709160"/>
            <a:ext cx="109728" cy="109728"/>
          </a:xfrm>
          <a:prstGeom prst="ellipse">
            <a:avLst/>
          </a:prstGeom>
          <a:solidFill>
            <a:srgbClr val="F2A65A"/>
          </a:solidFill>
          <a:ln/>
        </p:spPr>
      </p:sp>
      <p:sp>
        <p:nvSpPr>
          <p:cNvPr id="11" name="Text 9"/>
          <p:cNvSpPr/>
          <p:nvPr/>
        </p:nvSpPr>
        <p:spPr>
          <a:xfrm>
            <a:off x="914400" y="4590288"/>
            <a:ext cx="5303520" cy="365760"/>
          </a:xfrm>
          <a:prstGeom prst="rect">
            <a:avLst/>
          </a:prstGeom>
          <a:noFill/>
          <a:ln/>
        </p:spPr>
        <p:txBody>
          <a:bodyPr wrap="square" rtlCol="0" anchor="ctr"/>
          <a:lstStyle/>
          <a:p>
            <a:pPr marL="0" indent="0">
              <a:buNone/>
            </a:pPr>
            <a:r>
              <a:rPr lang="en-US" sz="1300" dirty="0">
                <a:solidFill>
                  <a:srgbClr val="1E2761"/>
                </a:solidFill>
                <a:latin typeface="Calibri" pitchFamily="34" charset="0"/>
                <a:ea typeface="Calibri" pitchFamily="34" charset="-122"/>
                <a:cs typeface="Calibri" pitchFamily="34" charset="-120"/>
              </a:rPr>
              <a:t>Sensitive attributes: sex and race</a:t>
            </a:r>
            <a:endParaRPr lang="en-US" sz="1300" dirty="0"/>
          </a:p>
        </p:txBody>
      </p:sp>
      <p:sp>
        <p:nvSpPr>
          <p:cNvPr id="12" name="Shape 10"/>
          <p:cNvSpPr/>
          <p:nvPr/>
        </p:nvSpPr>
        <p:spPr>
          <a:xfrm>
            <a:off x="640080" y="5166360"/>
            <a:ext cx="109728" cy="109728"/>
          </a:xfrm>
          <a:prstGeom prst="ellipse">
            <a:avLst/>
          </a:prstGeom>
          <a:solidFill>
            <a:srgbClr val="F2A65A"/>
          </a:solidFill>
          <a:ln/>
        </p:spPr>
      </p:sp>
      <p:sp>
        <p:nvSpPr>
          <p:cNvPr id="13" name="Text 11"/>
          <p:cNvSpPr/>
          <p:nvPr/>
        </p:nvSpPr>
        <p:spPr>
          <a:xfrm>
            <a:off x="914400" y="5047488"/>
            <a:ext cx="5303520" cy="365760"/>
          </a:xfrm>
          <a:prstGeom prst="rect">
            <a:avLst/>
          </a:prstGeom>
          <a:noFill/>
          <a:ln/>
        </p:spPr>
        <p:txBody>
          <a:bodyPr wrap="square" rtlCol="0" anchor="ctr"/>
          <a:lstStyle/>
          <a:p>
            <a:pPr marL="0" indent="0">
              <a:buNone/>
            </a:pPr>
            <a:r>
              <a:rPr lang="en-US" sz="1300" dirty="0">
                <a:solidFill>
                  <a:srgbClr val="1E2761"/>
                </a:solidFill>
                <a:latin typeface="Calibri" pitchFamily="34" charset="0"/>
                <a:ea typeface="Calibri" pitchFamily="34" charset="-122"/>
                <a:cs typeface="Calibri" pitchFamily="34" charset="-120"/>
              </a:rPr>
              <a:t>Target: income (&gt;$50K or ≤$50K)</a:t>
            </a:r>
            <a:endParaRPr lang="en-US" sz="1300" dirty="0"/>
          </a:p>
        </p:txBody>
      </p:sp>
      <p:sp>
        <p:nvSpPr>
          <p:cNvPr id="14" name="Shape 12"/>
          <p:cNvSpPr/>
          <p:nvPr/>
        </p:nvSpPr>
        <p:spPr>
          <a:xfrm>
            <a:off x="6675120" y="1600200"/>
            <a:ext cx="4846320" cy="4480560"/>
          </a:xfrm>
          <a:prstGeom prst="roundRect">
            <a:avLst>
              <a:gd name="adj" fmla="val 1633"/>
            </a:avLst>
          </a:prstGeom>
          <a:solidFill>
            <a:srgbClr val="1E2761"/>
          </a:solidFill>
          <a:ln/>
        </p:spPr>
      </p:sp>
      <p:sp>
        <p:nvSpPr>
          <p:cNvPr id="15" name="Text 13"/>
          <p:cNvSpPr/>
          <p:nvPr/>
        </p:nvSpPr>
        <p:spPr>
          <a:xfrm>
            <a:off x="6949440" y="1920240"/>
            <a:ext cx="4297680" cy="8229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32,561</a:t>
            </a:r>
            <a:endParaRPr lang="en-US" sz="4200" dirty="0"/>
          </a:p>
        </p:txBody>
      </p:sp>
      <p:sp>
        <p:nvSpPr>
          <p:cNvPr id="16" name="Text 14"/>
          <p:cNvSpPr/>
          <p:nvPr/>
        </p:nvSpPr>
        <p:spPr>
          <a:xfrm>
            <a:off x="6949440" y="2606040"/>
            <a:ext cx="429768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total records</a:t>
            </a:r>
            <a:endParaRPr lang="en-US" sz="1300" dirty="0"/>
          </a:p>
        </p:txBody>
      </p:sp>
      <p:sp>
        <p:nvSpPr>
          <p:cNvPr id="17" name="Shape 15"/>
          <p:cNvSpPr/>
          <p:nvPr/>
        </p:nvSpPr>
        <p:spPr>
          <a:xfrm>
            <a:off x="6949440" y="3200400"/>
            <a:ext cx="4023360" cy="0"/>
          </a:xfrm>
          <a:prstGeom prst="line">
            <a:avLst/>
          </a:prstGeom>
          <a:noFill/>
          <a:ln w="9525">
            <a:solidFill>
              <a:srgbClr val="5B6B9C"/>
            </a:solidFill>
            <a:prstDash val="solid"/>
          </a:ln>
        </p:spPr>
      </p:sp>
      <p:sp>
        <p:nvSpPr>
          <p:cNvPr id="18" name="Text 16"/>
          <p:cNvSpPr/>
          <p:nvPr/>
        </p:nvSpPr>
        <p:spPr>
          <a:xfrm>
            <a:off x="6949440" y="3383280"/>
            <a:ext cx="18288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15</a:t>
            </a:r>
            <a:endParaRPr lang="en-US" sz="3200" dirty="0"/>
          </a:p>
        </p:txBody>
      </p:sp>
      <p:sp>
        <p:nvSpPr>
          <p:cNvPr id="19" name="Text 17"/>
          <p:cNvSpPr/>
          <p:nvPr/>
        </p:nvSpPr>
        <p:spPr>
          <a:xfrm>
            <a:off x="6949440" y="3977640"/>
            <a:ext cx="210312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columns</a:t>
            </a:r>
            <a:endParaRPr lang="en-US" sz="1200" dirty="0"/>
          </a:p>
        </p:txBody>
      </p:sp>
      <p:sp>
        <p:nvSpPr>
          <p:cNvPr id="20" name="Text 18"/>
          <p:cNvSpPr/>
          <p:nvPr/>
        </p:nvSpPr>
        <p:spPr>
          <a:xfrm>
            <a:off x="8961120" y="3383280"/>
            <a:ext cx="219456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~25%</a:t>
            </a:r>
            <a:endParaRPr lang="en-US" sz="3200" dirty="0"/>
          </a:p>
        </p:txBody>
      </p:sp>
      <p:sp>
        <p:nvSpPr>
          <p:cNvPr id="21" name="Text 19"/>
          <p:cNvSpPr/>
          <p:nvPr/>
        </p:nvSpPr>
        <p:spPr>
          <a:xfrm>
            <a:off x="8961120" y="3977640"/>
            <a:ext cx="219456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earn &gt;$50K</a:t>
            </a:r>
            <a:endParaRPr lang="en-US" sz="1200" dirty="0"/>
          </a:p>
        </p:txBody>
      </p:sp>
      <p:sp>
        <p:nvSpPr>
          <p:cNvPr id="22" name="Shape 20"/>
          <p:cNvSpPr/>
          <p:nvPr/>
        </p:nvSpPr>
        <p:spPr>
          <a:xfrm>
            <a:off x="6949440" y="4526280"/>
            <a:ext cx="4023360" cy="0"/>
          </a:xfrm>
          <a:prstGeom prst="line">
            <a:avLst/>
          </a:prstGeom>
          <a:noFill/>
          <a:ln w="9525">
            <a:solidFill>
              <a:srgbClr val="5B6B9C"/>
            </a:solidFill>
            <a:prstDash val="solid"/>
          </a:ln>
        </p:spPr>
      </p:sp>
      <p:sp>
        <p:nvSpPr>
          <p:cNvPr id="23" name="Text 21"/>
          <p:cNvSpPr/>
          <p:nvPr/>
        </p:nvSpPr>
        <p:spPr>
          <a:xfrm>
            <a:off x="6949440" y="4754880"/>
            <a:ext cx="4297680" cy="1097280"/>
          </a:xfrm>
          <a:prstGeom prst="rect">
            <a:avLst/>
          </a:prstGeom>
          <a:noFill/>
          <a:ln/>
        </p:spPr>
        <p:txBody>
          <a:bodyPr wrap="square" rtlCol="0" anchor="ctr"/>
          <a:lstStyle/>
          <a:p>
            <a:pPr marL="0" indent="0">
              <a:lnSpc>
                <a:spcPct val="120000"/>
              </a:lnSpc>
              <a:buNone/>
            </a:pPr>
            <a:r>
              <a:rPr lang="en-US" sz="1200" i="1" dirty="0">
                <a:solidFill>
                  <a:srgbClr val="CADCFC"/>
                </a:solidFill>
                <a:latin typeface="Calibri" pitchFamily="34" charset="0"/>
                <a:ea typeface="Calibri" pitchFamily="34" charset="-122"/>
                <a:cs typeface="Calibri" pitchFamily="34" charset="-120"/>
              </a:rPr>
              <a:t>A well-known benchmark dataset in AI fairness research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PART B — STEP 3</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Cleaning</a:t>
            </a:r>
            <a:endParaRPr lang="en-US" sz="3000" dirty="0"/>
          </a:p>
        </p:txBody>
      </p:sp>
      <p:sp>
        <p:nvSpPr>
          <p:cNvPr id="4" name="Text 2"/>
          <p:cNvSpPr/>
          <p:nvPr/>
        </p:nvSpPr>
        <p:spPr>
          <a:xfrm>
            <a:off x="640080" y="1645920"/>
            <a:ext cx="5394960" cy="1188720"/>
          </a:xfrm>
          <a:prstGeom prst="rect">
            <a:avLst/>
          </a:prstGeom>
          <a:noFill/>
          <a:ln/>
        </p:spPr>
        <p:txBody>
          <a:bodyPr wrap="square" rtlCol="0" anchor="ctr"/>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The dataset used the character "?" to represent missing values instead of a true null — pandas doesn't recognize this automatically, so it had to be handled explicitly.</a:t>
            </a:r>
            <a:endParaRPr lang="en-US" sz="1400" dirty="0"/>
          </a:p>
        </p:txBody>
      </p:sp>
      <p:sp>
        <p:nvSpPr>
          <p:cNvPr id="5" name="Text 3"/>
          <p:cNvSpPr/>
          <p:nvPr/>
        </p:nvSpPr>
        <p:spPr>
          <a:xfrm>
            <a:off x="640080" y="2880360"/>
            <a:ext cx="5394960" cy="1188720"/>
          </a:xfrm>
          <a:prstGeom prst="rect">
            <a:avLst/>
          </a:prstGeom>
          <a:noFill/>
          <a:ln/>
        </p:spPr>
        <p:txBody>
          <a:bodyPr wrap="square" rtlCol="0" anchor="ctr"/>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Rows missing workclass, occupation, or native.country were dropped — 7.4% of the data, small enough to remove safely without harming sample size.</a:t>
            </a:r>
            <a:endParaRPr lang="en-US" sz="1400" dirty="0"/>
          </a:p>
        </p:txBody>
      </p:sp>
      <p:sp>
        <p:nvSpPr>
          <p:cNvPr id="6" name="Text 4"/>
          <p:cNvSpPr/>
          <p:nvPr/>
        </p:nvSpPr>
        <p:spPr>
          <a:xfrm>
            <a:off x="640080" y="4114800"/>
            <a:ext cx="5394960" cy="1188720"/>
          </a:xfrm>
          <a:prstGeom prst="rect">
            <a:avLst/>
          </a:prstGeom>
          <a:noFill/>
          <a:ln/>
        </p:spPr>
        <p:txBody>
          <a:bodyPr wrap="square" rtlCol="0" anchor="ctr"/>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fnlwgt (a census sampling weight) and education (redundant with education.num) were also dropped as non-predictive.</a:t>
            </a:r>
            <a:endParaRPr lang="en-US" sz="1400" dirty="0"/>
          </a:p>
        </p:txBody>
      </p:sp>
      <p:sp>
        <p:nvSpPr>
          <p:cNvPr id="7" name="Shape 5"/>
          <p:cNvSpPr/>
          <p:nvPr/>
        </p:nvSpPr>
        <p:spPr>
          <a:xfrm>
            <a:off x="6583680" y="1737360"/>
            <a:ext cx="2286000" cy="2011680"/>
          </a:xfrm>
          <a:prstGeom prst="roundRect">
            <a:avLst>
              <a:gd name="adj" fmla="val 3636"/>
            </a:avLst>
          </a:prstGeom>
          <a:solidFill>
            <a:srgbClr val="CADCFC"/>
          </a:solidFill>
          <a:ln/>
        </p:spPr>
      </p:sp>
      <p:sp>
        <p:nvSpPr>
          <p:cNvPr id="8" name="Text 6"/>
          <p:cNvSpPr/>
          <p:nvPr/>
        </p:nvSpPr>
        <p:spPr>
          <a:xfrm>
            <a:off x="6583680" y="1874520"/>
            <a:ext cx="2286000" cy="320040"/>
          </a:xfrm>
          <a:prstGeom prst="rect">
            <a:avLst/>
          </a:prstGeom>
          <a:noFill/>
          <a:ln/>
        </p:spPr>
        <p:txBody>
          <a:bodyPr wrap="square" rtlCol="0" anchor="ctr"/>
          <a:lstStyle/>
          <a:p>
            <a:pPr marL="0" indent="0" algn="ctr">
              <a:buNone/>
            </a:pPr>
            <a:r>
              <a:rPr lang="en-US" sz="1100" b="1" dirty="0">
                <a:solidFill>
                  <a:srgbClr val="5B6B9C"/>
                </a:solidFill>
                <a:latin typeface="Calibri" pitchFamily="34" charset="0"/>
                <a:ea typeface="Calibri" pitchFamily="34" charset="-122"/>
                <a:cs typeface="Calibri" pitchFamily="34" charset="-120"/>
              </a:rPr>
              <a:t>BEFORE</a:t>
            </a:r>
            <a:endParaRPr lang="en-US" sz="1100" dirty="0"/>
          </a:p>
        </p:txBody>
      </p:sp>
      <p:sp>
        <p:nvSpPr>
          <p:cNvPr id="9" name="Text 7"/>
          <p:cNvSpPr/>
          <p:nvPr/>
        </p:nvSpPr>
        <p:spPr>
          <a:xfrm>
            <a:off x="6583680" y="2286000"/>
            <a:ext cx="2286000" cy="64008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32,561</a:t>
            </a:r>
            <a:endParaRPr lang="en-US" sz="2600" dirty="0"/>
          </a:p>
        </p:txBody>
      </p:sp>
      <p:sp>
        <p:nvSpPr>
          <p:cNvPr id="10" name="Text 8"/>
          <p:cNvSpPr/>
          <p:nvPr/>
        </p:nvSpPr>
        <p:spPr>
          <a:xfrm>
            <a:off x="6583680" y="2880360"/>
            <a:ext cx="2286000" cy="320040"/>
          </a:xfrm>
          <a:prstGeom prst="rect">
            <a:avLst/>
          </a:prstGeom>
          <a:noFill/>
          <a:ln/>
        </p:spPr>
        <p:txBody>
          <a:bodyPr wrap="square"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rows</a:t>
            </a:r>
            <a:endParaRPr lang="en-US" sz="1100" dirty="0"/>
          </a:p>
        </p:txBody>
      </p:sp>
      <p:sp>
        <p:nvSpPr>
          <p:cNvPr id="11" name="Shape 9"/>
          <p:cNvSpPr/>
          <p:nvPr/>
        </p:nvSpPr>
        <p:spPr>
          <a:xfrm>
            <a:off x="9144000" y="1737360"/>
            <a:ext cx="2286000" cy="2011680"/>
          </a:xfrm>
          <a:prstGeom prst="roundRect">
            <a:avLst>
              <a:gd name="adj" fmla="val 3636"/>
            </a:avLst>
          </a:prstGeom>
          <a:solidFill>
            <a:srgbClr val="1E2761"/>
          </a:solidFill>
          <a:ln/>
        </p:spPr>
      </p:sp>
      <p:sp>
        <p:nvSpPr>
          <p:cNvPr id="12" name="Text 10"/>
          <p:cNvSpPr/>
          <p:nvPr/>
        </p:nvSpPr>
        <p:spPr>
          <a:xfrm>
            <a:off x="9144000" y="1874520"/>
            <a:ext cx="2286000" cy="320040"/>
          </a:xfrm>
          <a:prstGeom prst="rect">
            <a:avLst/>
          </a:prstGeom>
          <a:noFill/>
          <a:ln/>
        </p:spPr>
        <p:txBody>
          <a:bodyPr wrap="square" rtlCol="0" anchor="ctr"/>
          <a:lstStyle/>
          <a:p>
            <a:pPr marL="0" indent="0" algn="ctr">
              <a:buNone/>
            </a:pPr>
            <a:r>
              <a:rPr lang="en-US" sz="1100" b="1" dirty="0">
                <a:solidFill>
                  <a:srgbClr val="CADCFC"/>
                </a:solidFill>
                <a:latin typeface="Calibri" pitchFamily="34" charset="0"/>
                <a:ea typeface="Calibri" pitchFamily="34" charset="-122"/>
                <a:cs typeface="Calibri" pitchFamily="34" charset="-120"/>
              </a:rPr>
              <a:t>AFTER</a:t>
            </a:r>
            <a:endParaRPr lang="en-US" sz="1100" dirty="0"/>
          </a:p>
        </p:txBody>
      </p:sp>
      <p:sp>
        <p:nvSpPr>
          <p:cNvPr id="13" name="Text 11"/>
          <p:cNvSpPr/>
          <p:nvPr/>
        </p:nvSpPr>
        <p:spPr>
          <a:xfrm>
            <a:off x="9144000" y="2286000"/>
            <a:ext cx="2286000" cy="64008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30,162</a:t>
            </a:r>
            <a:endParaRPr lang="en-US" sz="2600" dirty="0"/>
          </a:p>
        </p:txBody>
      </p:sp>
      <p:sp>
        <p:nvSpPr>
          <p:cNvPr id="14" name="Text 12"/>
          <p:cNvSpPr/>
          <p:nvPr/>
        </p:nvSpPr>
        <p:spPr>
          <a:xfrm>
            <a:off x="9144000" y="2880360"/>
            <a:ext cx="2286000" cy="32004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clean rows</a:t>
            </a:r>
            <a:endParaRPr lang="en-US" sz="1100" dirty="0"/>
          </a:p>
        </p:txBody>
      </p:sp>
      <p:sp>
        <p:nvSpPr>
          <p:cNvPr id="15" name="Text 13"/>
          <p:cNvSpPr/>
          <p:nvPr/>
        </p:nvSpPr>
        <p:spPr>
          <a:xfrm>
            <a:off x="6583680" y="3931920"/>
            <a:ext cx="4846320" cy="365760"/>
          </a:xfrm>
          <a:prstGeom prst="rect">
            <a:avLst/>
          </a:prstGeom>
          <a:noFill/>
          <a:ln/>
        </p:spPr>
        <p:txBody>
          <a:bodyPr wrap="square" rtlCol="0" anchor="ctr"/>
          <a:lstStyle/>
          <a:p>
            <a:pPr marL="0" indent="0" algn="ctr">
              <a:buNone/>
            </a:pPr>
            <a:r>
              <a:rPr lang="en-US" sz="1300" i="1" dirty="0">
                <a:solidFill>
                  <a:srgbClr val="5B6B9C"/>
                </a:solidFill>
                <a:latin typeface="Calibri" pitchFamily="34" charset="0"/>
                <a:ea typeface="Calibri" pitchFamily="34" charset="-122"/>
                <a:cs typeface="Calibri" pitchFamily="34" charset="-120"/>
              </a:rPr>
              <a:t>−2,399 rows (7.4%) dropped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PART B — STEPS 2-3</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Modeling Approach</a:t>
            </a:r>
            <a:endParaRPr lang="en-US" sz="3000" dirty="0"/>
          </a:p>
        </p:txBody>
      </p:sp>
      <p:sp>
        <p:nvSpPr>
          <p:cNvPr id="4" name="Text 2"/>
          <p:cNvSpPr/>
          <p:nvPr/>
        </p:nvSpPr>
        <p:spPr>
          <a:xfrm>
            <a:off x="640080" y="1645920"/>
            <a:ext cx="5486400" cy="45720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Random Forest Classifier</a:t>
            </a:r>
            <a:endParaRPr lang="en-US" sz="2000" dirty="0"/>
          </a:p>
        </p:txBody>
      </p:sp>
      <p:sp>
        <p:nvSpPr>
          <p:cNvPr id="5" name="Text 3"/>
          <p:cNvSpPr/>
          <p:nvPr/>
        </p:nvSpPr>
        <p:spPr>
          <a:xfrm>
            <a:off x="640080" y="2148840"/>
            <a:ext cx="5394960" cy="1783080"/>
          </a:xfrm>
          <a:prstGeom prst="rect">
            <a:avLst/>
          </a:prstGeom>
          <a:noFill/>
          <a:ln/>
        </p:spPr>
        <p:txBody>
          <a:bodyPr wrap="square" rtlCol="0" anchor="ctr"/>
          <a:lstStyle/>
          <a:p>
            <a:pPr marL="0" indent="0">
              <a:lnSpc>
                <a:spcPct val="125000"/>
              </a:lnSpc>
              <a:buNone/>
            </a:pPr>
            <a:r>
              <a:rPr lang="en-US" sz="1400" dirty="0">
                <a:solidFill>
                  <a:srgbClr val="1E2761"/>
                </a:solidFill>
                <a:latin typeface="Calibri" pitchFamily="34" charset="0"/>
                <a:ea typeface="Calibri" pitchFamily="34" charset="-122"/>
                <a:cs typeface="Calibri" pitchFamily="34" charset="-120"/>
              </a:rPr>
              <a:t>200 decision trees, averaged together, predicting whether income exceeds $50K. More stable than a single tree, and requires less tuning than a neural network — a strong fit for tabular census data under time constraints.</a:t>
            </a:r>
          </a:p>
          <a:p>
            <a:pPr marL="0" indent="0">
              <a:lnSpc>
                <a:spcPct val="125000"/>
              </a:lnSpc>
              <a:buNone/>
            </a:pPr>
            <a:endParaRPr lang="en-US" sz="1400" dirty="0">
              <a:solidFill>
                <a:srgbClr val="1E2761"/>
              </a:solidFill>
              <a:latin typeface="Calibri" pitchFamily="34" charset="0"/>
              <a:ea typeface="Calibri" pitchFamily="34" charset="-122"/>
              <a:cs typeface="Calibri" pitchFamily="34" charset="-120"/>
            </a:endParaRPr>
          </a:p>
          <a:p>
            <a:pPr marL="0" indent="0">
              <a:lnSpc>
                <a:spcPct val="125000"/>
              </a:lnSpc>
              <a:buNone/>
            </a:pPr>
            <a:endParaRPr lang="en-US" sz="1400" dirty="0"/>
          </a:p>
        </p:txBody>
      </p:sp>
      <p:sp>
        <p:nvSpPr>
          <p:cNvPr id="6" name="Shape 4"/>
          <p:cNvSpPr/>
          <p:nvPr/>
        </p:nvSpPr>
        <p:spPr>
          <a:xfrm>
            <a:off x="502920" y="3886200"/>
            <a:ext cx="5394960" cy="2286000"/>
          </a:xfrm>
          <a:prstGeom prst="roundRect">
            <a:avLst>
              <a:gd name="adj" fmla="val 3200"/>
            </a:avLst>
          </a:prstGeom>
          <a:solidFill>
            <a:srgbClr val="FBEFE0"/>
          </a:solidFill>
          <a:ln/>
        </p:spPr>
        <p:txBody>
          <a:bodyPr/>
          <a:lstStyle/>
          <a:p>
            <a:endParaRPr lang="en-NG" dirty="0"/>
          </a:p>
        </p:txBody>
      </p:sp>
      <p:sp>
        <p:nvSpPr>
          <p:cNvPr id="7" name="Text 5"/>
          <p:cNvSpPr/>
          <p:nvPr/>
        </p:nvSpPr>
        <p:spPr>
          <a:xfrm>
            <a:off x="914400" y="3931920"/>
            <a:ext cx="4937760" cy="320040"/>
          </a:xfrm>
          <a:prstGeom prst="rect">
            <a:avLst/>
          </a:prstGeom>
          <a:noFill/>
          <a:ln/>
        </p:spPr>
        <p:txBody>
          <a:bodyPr wrap="square" rtlCol="0" anchor="ctr"/>
          <a:lstStyle/>
          <a:p>
            <a:pPr marL="0" indent="0">
              <a:buNone/>
            </a:pPr>
            <a:r>
              <a:rPr lang="en-US" sz="1100" b="1" dirty="0">
                <a:solidFill>
                  <a:srgbClr val="F2A65A"/>
                </a:solidFill>
                <a:latin typeface="Calibri" pitchFamily="34" charset="0"/>
                <a:ea typeface="Calibri" pitchFamily="34" charset="-122"/>
                <a:cs typeface="Calibri" pitchFamily="34" charset="-120"/>
              </a:rPr>
              <a:t>KEY DESIGN DECISION</a:t>
            </a:r>
            <a:endParaRPr lang="en-US" sz="1100" dirty="0"/>
          </a:p>
        </p:txBody>
      </p:sp>
      <p:sp>
        <p:nvSpPr>
          <p:cNvPr id="8" name="Text 6"/>
          <p:cNvSpPr/>
          <p:nvPr/>
        </p:nvSpPr>
        <p:spPr>
          <a:xfrm>
            <a:off x="914400" y="4251960"/>
            <a:ext cx="4846320" cy="1645920"/>
          </a:xfrm>
          <a:prstGeom prst="rect">
            <a:avLst/>
          </a:prstGeom>
          <a:noFill/>
          <a:ln/>
        </p:spPr>
        <p:txBody>
          <a:bodyPr wrap="square" rtlCol="0" anchor="ctr"/>
          <a:lstStyle/>
          <a:p>
            <a:pPr marL="0" indent="0">
              <a:lnSpc>
                <a:spcPct val="125000"/>
              </a:lnSpc>
              <a:buNone/>
            </a:pPr>
            <a:r>
              <a:rPr lang="en-US" sz="1400" b="1" dirty="0">
                <a:solidFill>
                  <a:srgbClr val="1E2761"/>
                </a:solidFill>
                <a:latin typeface="Calibri" pitchFamily="34" charset="0"/>
                <a:ea typeface="Calibri" pitchFamily="34" charset="-122"/>
                <a:cs typeface="Calibri" pitchFamily="34" charset="-120"/>
              </a:rPr>
              <a:t>sex and race were excluded from training features entirely. The model never sees them when making a prediction — they are held aside only to audit fairness afterward.</a:t>
            </a:r>
            <a:endParaRPr lang="en-US" sz="1400" dirty="0"/>
          </a:p>
        </p:txBody>
      </p:sp>
      <p:sp>
        <p:nvSpPr>
          <p:cNvPr id="9" name="Shape 7"/>
          <p:cNvSpPr/>
          <p:nvPr/>
        </p:nvSpPr>
        <p:spPr>
          <a:xfrm>
            <a:off x="6675120" y="1691640"/>
            <a:ext cx="457200" cy="457200"/>
          </a:xfrm>
          <a:prstGeom prst="ellipse">
            <a:avLst/>
          </a:prstGeom>
          <a:solidFill>
            <a:srgbClr val="1E2761"/>
          </a:solidFill>
          <a:ln/>
        </p:spPr>
      </p:sp>
      <p:sp>
        <p:nvSpPr>
          <p:cNvPr id="10" name="Text 8"/>
          <p:cNvSpPr/>
          <p:nvPr/>
        </p:nvSpPr>
        <p:spPr>
          <a:xfrm>
            <a:off x="6675120" y="16916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7315200" y="1709928"/>
            <a:ext cx="4389120" cy="457200"/>
          </a:xfrm>
          <a:prstGeom prst="rect">
            <a:avLst/>
          </a:prstGeom>
          <a:noFill/>
          <a:ln/>
        </p:spPr>
        <p:txBody>
          <a:bodyPr wrap="square" rtlCol="0" anchor="ctr"/>
          <a:lstStyle/>
          <a:p>
            <a:pPr marL="0" indent="0">
              <a:buNone/>
            </a:pPr>
            <a:r>
              <a:rPr lang="en-US" sz="1400" dirty="0">
                <a:solidFill>
                  <a:srgbClr val="1E2761"/>
                </a:solidFill>
                <a:latin typeface="Calibri" pitchFamily="34" charset="0"/>
                <a:ea typeface="Calibri" pitchFamily="34" charset="-122"/>
                <a:cs typeface="Calibri" pitchFamily="34" charset="-120"/>
              </a:rPr>
              <a:t>Clean data</a:t>
            </a:r>
            <a:endParaRPr lang="en-US" sz="1400" dirty="0"/>
          </a:p>
        </p:txBody>
      </p:sp>
      <p:sp>
        <p:nvSpPr>
          <p:cNvPr id="12" name="Shape 10"/>
          <p:cNvSpPr/>
          <p:nvPr/>
        </p:nvSpPr>
        <p:spPr>
          <a:xfrm>
            <a:off x="6903720" y="2148840"/>
            <a:ext cx="0" cy="457200"/>
          </a:xfrm>
          <a:prstGeom prst="line">
            <a:avLst/>
          </a:prstGeom>
          <a:noFill/>
          <a:ln w="25400">
            <a:solidFill>
              <a:srgbClr val="CADCFC"/>
            </a:solidFill>
            <a:prstDash val="solid"/>
          </a:ln>
        </p:spPr>
      </p:sp>
      <p:sp>
        <p:nvSpPr>
          <p:cNvPr id="13" name="Shape 11"/>
          <p:cNvSpPr/>
          <p:nvPr/>
        </p:nvSpPr>
        <p:spPr>
          <a:xfrm>
            <a:off x="6675120" y="2606040"/>
            <a:ext cx="457200" cy="457200"/>
          </a:xfrm>
          <a:prstGeom prst="ellipse">
            <a:avLst/>
          </a:prstGeom>
          <a:solidFill>
            <a:srgbClr val="1E2761"/>
          </a:solidFill>
          <a:ln/>
        </p:spPr>
      </p:sp>
      <p:sp>
        <p:nvSpPr>
          <p:cNvPr id="14" name="Text 12"/>
          <p:cNvSpPr/>
          <p:nvPr/>
        </p:nvSpPr>
        <p:spPr>
          <a:xfrm>
            <a:off x="6675120" y="26060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7315200" y="2624328"/>
            <a:ext cx="4389120" cy="457200"/>
          </a:xfrm>
          <a:prstGeom prst="rect">
            <a:avLst/>
          </a:prstGeom>
          <a:noFill/>
          <a:ln/>
        </p:spPr>
        <p:txBody>
          <a:bodyPr wrap="square" rtlCol="0" anchor="ctr"/>
          <a:lstStyle/>
          <a:p>
            <a:pPr marL="0" indent="0">
              <a:buNone/>
            </a:pPr>
            <a:r>
              <a:rPr lang="en-US" sz="1400" dirty="0">
                <a:solidFill>
                  <a:srgbClr val="1E2761"/>
                </a:solidFill>
                <a:latin typeface="Calibri" pitchFamily="34" charset="0"/>
                <a:ea typeface="Calibri" pitchFamily="34" charset="-122"/>
                <a:cs typeface="Calibri" pitchFamily="34" charset="-120"/>
              </a:rPr>
              <a:t>One-hot encode categoricals</a:t>
            </a:r>
            <a:endParaRPr lang="en-US" sz="1400" dirty="0"/>
          </a:p>
        </p:txBody>
      </p:sp>
      <p:sp>
        <p:nvSpPr>
          <p:cNvPr id="16" name="Shape 14"/>
          <p:cNvSpPr/>
          <p:nvPr/>
        </p:nvSpPr>
        <p:spPr>
          <a:xfrm>
            <a:off x="6903720" y="3063240"/>
            <a:ext cx="0" cy="457200"/>
          </a:xfrm>
          <a:prstGeom prst="line">
            <a:avLst/>
          </a:prstGeom>
          <a:noFill/>
          <a:ln w="25400">
            <a:solidFill>
              <a:srgbClr val="CADCFC"/>
            </a:solidFill>
            <a:prstDash val="solid"/>
          </a:ln>
        </p:spPr>
      </p:sp>
      <p:sp>
        <p:nvSpPr>
          <p:cNvPr id="17" name="Shape 15"/>
          <p:cNvSpPr/>
          <p:nvPr/>
        </p:nvSpPr>
        <p:spPr>
          <a:xfrm>
            <a:off x="6675120" y="3520440"/>
            <a:ext cx="457200" cy="457200"/>
          </a:xfrm>
          <a:prstGeom prst="ellipse">
            <a:avLst/>
          </a:prstGeom>
          <a:solidFill>
            <a:srgbClr val="1E2761"/>
          </a:solidFill>
          <a:ln/>
        </p:spPr>
      </p:sp>
      <p:sp>
        <p:nvSpPr>
          <p:cNvPr id="18" name="Text 16"/>
          <p:cNvSpPr/>
          <p:nvPr/>
        </p:nvSpPr>
        <p:spPr>
          <a:xfrm>
            <a:off x="6675120" y="35204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7315200" y="3538728"/>
            <a:ext cx="4389120" cy="457200"/>
          </a:xfrm>
          <a:prstGeom prst="rect">
            <a:avLst/>
          </a:prstGeom>
          <a:noFill/>
          <a:ln/>
        </p:spPr>
        <p:txBody>
          <a:bodyPr wrap="square" rtlCol="0" anchor="ctr"/>
          <a:lstStyle/>
          <a:p>
            <a:pPr marL="0" indent="0">
              <a:buNone/>
            </a:pPr>
            <a:r>
              <a:rPr lang="en-US" sz="1400" dirty="0">
                <a:solidFill>
                  <a:srgbClr val="1E2761"/>
                </a:solidFill>
                <a:latin typeface="Calibri" pitchFamily="34" charset="0"/>
                <a:ea typeface="Calibri" pitchFamily="34" charset="-122"/>
                <a:cs typeface="Calibri" pitchFamily="34" charset="-120"/>
              </a:rPr>
              <a:t>80/20 stratified split</a:t>
            </a:r>
            <a:endParaRPr lang="en-US" sz="1400" dirty="0"/>
          </a:p>
        </p:txBody>
      </p:sp>
      <p:sp>
        <p:nvSpPr>
          <p:cNvPr id="20" name="Shape 18"/>
          <p:cNvSpPr/>
          <p:nvPr/>
        </p:nvSpPr>
        <p:spPr>
          <a:xfrm>
            <a:off x="6903720" y="3977640"/>
            <a:ext cx="0" cy="457200"/>
          </a:xfrm>
          <a:prstGeom prst="line">
            <a:avLst/>
          </a:prstGeom>
          <a:noFill/>
          <a:ln w="25400">
            <a:solidFill>
              <a:srgbClr val="CADCFC"/>
            </a:solidFill>
            <a:prstDash val="solid"/>
          </a:ln>
        </p:spPr>
      </p:sp>
      <p:sp>
        <p:nvSpPr>
          <p:cNvPr id="21" name="Shape 19"/>
          <p:cNvSpPr/>
          <p:nvPr/>
        </p:nvSpPr>
        <p:spPr>
          <a:xfrm>
            <a:off x="6675120" y="4434840"/>
            <a:ext cx="457200" cy="457200"/>
          </a:xfrm>
          <a:prstGeom prst="ellipse">
            <a:avLst/>
          </a:prstGeom>
          <a:solidFill>
            <a:srgbClr val="1E2761"/>
          </a:solidFill>
          <a:ln/>
        </p:spPr>
      </p:sp>
      <p:sp>
        <p:nvSpPr>
          <p:cNvPr id="22" name="Text 20"/>
          <p:cNvSpPr/>
          <p:nvPr/>
        </p:nvSpPr>
        <p:spPr>
          <a:xfrm>
            <a:off x="6675120" y="44348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315200" y="4453128"/>
            <a:ext cx="4389120" cy="457200"/>
          </a:xfrm>
          <a:prstGeom prst="rect">
            <a:avLst/>
          </a:prstGeom>
          <a:noFill/>
          <a:ln/>
        </p:spPr>
        <p:txBody>
          <a:bodyPr wrap="square" rtlCol="0" anchor="ctr"/>
          <a:lstStyle/>
          <a:p>
            <a:pPr marL="0" indent="0">
              <a:buNone/>
            </a:pPr>
            <a:r>
              <a:rPr lang="en-US" sz="1400" dirty="0">
                <a:solidFill>
                  <a:srgbClr val="1E2761"/>
                </a:solidFill>
                <a:latin typeface="Calibri" pitchFamily="34" charset="0"/>
                <a:ea typeface="Calibri" pitchFamily="34" charset="-122"/>
                <a:cs typeface="Calibri" pitchFamily="34" charset="-120"/>
              </a:rPr>
              <a:t>Train Random Forest (200 trees)</a:t>
            </a:r>
            <a:endParaRPr lang="en-US" sz="1400" dirty="0"/>
          </a:p>
        </p:txBody>
      </p:sp>
      <p:sp>
        <p:nvSpPr>
          <p:cNvPr id="24" name="Shape 22"/>
          <p:cNvSpPr/>
          <p:nvPr/>
        </p:nvSpPr>
        <p:spPr>
          <a:xfrm>
            <a:off x="6903720" y="4892040"/>
            <a:ext cx="0" cy="457200"/>
          </a:xfrm>
          <a:prstGeom prst="line">
            <a:avLst/>
          </a:prstGeom>
          <a:noFill/>
          <a:ln w="25400">
            <a:solidFill>
              <a:srgbClr val="CADCFC"/>
            </a:solidFill>
            <a:prstDash val="solid"/>
          </a:ln>
        </p:spPr>
      </p:sp>
      <p:sp>
        <p:nvSpPr>
          <p:cNvPr id="25" name="Shape 23"/>
          <p:cNvSpPr/>
          <p:nvPr/>
        </p:nvSpPr>
        <p:spPr>
          <a:xfrm>
            <a:off x="6675120" y="5349240"/>
            <a:ext cx="457200" cy="457200"/>
          </a:xfrm>
          <a:prstGeom prst="ellipse">
            <a:avLst/>
          </a:prstGeom>
          <a:solidFill>
            <a:srgbClr val="1E2761"/>
          </a:solidFill>
          <a:ln/>
        </p:spPr>
      </p:sp>
      <p:sp>
        <p:nvSpPr>
          <p:cNvPr id="26" name="Text 24"/>
          <p:cNvSpPr/>
          <p:nvPr/>
        </p:nvSpPr>
        <p:spPr>
          <a:xfrm>
            <a:off x="6675120" y="53492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7315200" y="5367528"/>
            <a:ext cx="4389120" cy="457200"/>
          </a:xfrm>
          <a:prstGeom prst="rect">
            <a:avLst/>
          </a:prstGeom>
          <a:noFill/>
          <a:ln/>
        </p:spPr>
        <p:txBody>
          <a:bodyPr wrap="square" rtlCol="0" anchor="ctr"/>
          <a:lstStyle/>
          <a:p>
            <a:pPr marL="0" indent="0">
              <a:buNone/>
            </a:pPr>
            <a:r>
              <a:rPr lang="en-US" sz="1400" dirty="0">
                <a:solidFill>
                  <a:srgbClr val="1E2761"/>
                </a:solidFill>
                <a:latin typeface="Calibri" pitchFamily="34" charset="0"/>
                <a:ea typeface="Calibri" pitchFamily="34" charset="-122"/>
                <a:cs typeface="Calibri" pitchFamily="34" charset="-120"/>
              </a:rPr>
              <a:t>Evaluate on held-out test set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Model Performance</a:t>
            </a:r>
            <a:endParaRPr lang="en-US" sz="3000" dirty="0"/>
          </a:p>
        </p:txBody>
      </p:sp>
      <p:sp>
        <p:nvSpPr>
          <p:cNvPr id="4" name="Shape 2"/>
          <p:cNvSpPr/>
          <p:nvPr/>
        </p:nvSpPr>
        <p:spPr>
          <a:xfrm>
            <a:off x="640080" y="1737360"/>
            <a:ext cx="3291840" cy="1920240"/>
          </a:xfrm>
          <a:prstGeom prst="roundRect">
            <a:avLst>
              <a:gd name="adj" fmla="val 3810"/>
            </a:avLst>
          </a:prstGeom>
          <a:solidFill>
            <a:srgbClr val="1E2761"/>
          </a:solidFill>
          <a:ln/>
        </p:spPr>
      </p:sp>
      <p:sp>
        <p:nvSpPr>
          <p:cNvPr id="5" name="Text 3"/>
          <p:cNvSpPr/>
          <p:nvPr/>
        </p:nvSpPr>
        <p:spPr>
          <a:xfrm>
            <a:off x="640080" y="1965960"/>
            <a:ext cx="329184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86.4%</a:t>
            </a:r>
            <a:endParaRPr lang="en-US" sz="3600" dirty="0"/>
          </a:p>
        </p:txBody>
      </p:sp>
      <p:sp>
        <p:nvSpPr>
          <p:cNvPr id="6" name="Text 4"/>
          <p:cNvSpPr/>
          <p:nvPr/>
        </p:nvSpPr>
        <p:spPr>
          <a:xfrm>
            <a:off x="640080" y="2788920"/>
            <a:ext cx="3291840" cy="36576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Overall Accuracy</a:t>
            </a:r>
            <a:endParaRPr lang="en-US" sz="1300" dirty="0"/>
          </a:p>
        </p:txBody>
      </p:sp>
      <p:sp>
        <p:nvSpPr>
          <p:cNvPr id="7" name="Shape 5"/>
          <p:cNvSpPr/>
          <p:nvPr/>
        </p:nvSpPr>
        <p:spPr>
          <a:xfrm>
            <a:off x="4114800" y="1737360"/>
            <a:ext cx="3291840" cy="1920240"/>
          </a:xfrm>
          <a:prstGeom prst="roundRect">
            <a:avLst>
              <a:gd name="adj" fmla="val 3810"/>
            </a:avLst>
          </a:prstGeom>
          <a:solidFill>
            <a:srgbClr val="CADCFC"/>
          </a:solidFill>
          <a:ln/>
        </p:spPr>
      </p:sp>
      <p:sp>
        <p:nvSpPr>
          <p:cNvPr id="8" name="Text 6"/>
          <p:cNvSpPr/>
          <p:nvPr/>
        </p:nvSpPr>
        <p:spPr>
          <a:xfrm>
            <a:off x="4114800" y="1965960"/>
            <a:ext cx="3291840" cy="822960"/>
          </a:xfrm>
          <a:prstGeom prst="rect">
            <a:avLst/>
          </a:prstGeom>
          <a:noFill/>
          <a:ln/>
        </p:spPr>
        <p:txBody>
          <a:bodyPr wrap="square" rtlCol="0" anchor="ctr"/>
          <a:lstStyle/>
          <a:p>
            <a:pPr marL="0" indent="0" algn="ctr">
              <a:buNone/>
            </a:pPr>
            <a:r>
              <a:rPr lang="en-US" sz="3600" b="1" dirty="0">
                <a:solidFill>
                  <a:srgbClr val="1E2761"/>
                </a:solidFill>
                <a:latin typeface="Cambria" pitchFamily="34" charset="0"/>
                <a:ea typeface="Cambria" pitchFamily="34" charset="-122"/>
                <a:cs typeface="Cambria" pitchFamily="34" charset="-120"/>
              </a:rPr>
              <a:t>96%</a:t>
            </a:r>
            <a:endParaRPr lang="en-US" sz="3600" dirty="0"/>
          </a:p>
        </p:txBody>
      </p:sp>
      <p:sp>
        <p:nvSpPr>
          <p:cNvPr id="9" name="Text 7"/>
          <p:cNvSpPr/>
          <p:nvPr/>
        </p:nvSpPr>
        <p:spPr>
          <a:xfrm>
            <a:off x="4114800" y="2788920"/>
            <a:ext cx="3291840" cy="365760"/>
          </a:xfrm>
          <a:prstGeom prst="rect">
            <a:avLst/>
          </a:prstGeom>
          <a:noFill/>
          <a:ln/>
        </p:spPr>
        <p:txBody>
          <a:bodyPr wrap="square" rtlCol="0" anchor="ctr"/>
          <a:lstStyle/>
          <a:p>
            <a:pPr marL="0" indent="0" algn="ctr">
              <a:buNone/>
            </a:pPr>
            <a:r>
              <a:rPr lang="en-US" sz="1300" dirty="0">
                <a:solidFill>
                  <a:srgbClr val="1E2761"/>
                </a:solidFill>
                <a:latin typeface="Calibri" pitchFamily="34" charset="0"/>
                <a:ea typeface="Calibri" pitchFamily="34" charset="-122"/>
                <a:cs typeface="Calibri" pitchFamily="34" charset="-120"/>
              </a:rPr>
              <a:t>Recall on ≤$50K class</a:t>
            </a:r>
            <a:endParaRPr lang="en-US" sz="1300" dirty="0"/>
          </a:p>
        </p:txBody>
      </p:sp>
      <p:sp>
        <p:nvSpPr>
          <p:cNvPr id="10" name="Shape 8"/>
          <p:cNvSpPr/>
          <p:nvPr/>
        </p:nvSpPr>
        <p:spPr>
          <a:xfrm>
            <a:off x="7589520" y="1737360"/>
            <a:ext cx="3291840" cy="1920240"/>
          </a:xfrm>
          <a:prstGeom prst="roundRect">
            <a:avLst>
              <a:gd name="adj" fmla="val 3810"/>
            </a:avLst>
          </a:prstGeom>
          <a:solidFill>
            <a:srgbClr val="FBEFE0"/>
          </a:solidFill>
          <a:ln/>
        </p:spPr>
      </p:sp>
      <p:sp>
        <p:nvSpPr>
          <p:cNvPr id="11" name="Text 9"/>
          <p:cNvSpPr/>
          <p:nvPr/>
        </p:nvSpPr>
        <p:spPr>
          <a:xfrm>
            <a:off x="7589520" y="1965960"/>
            <a:ext cx="3291840" cy="822960"/>
          </a:xfrm>
          <a:prstGeom prst="rect">
            <a:avLst/>
          </a:prstGeom>
          <a:noFill/>
          <a:ln/>
        </p:spPr>
        <p:txBody>
          <a:bodyPr wrap="square" rtlCol="0" anchor="ctr"/>
          <a:lstStyle/>
          <a:p>
            <a:pPr marL="0" indent="0" algn="ctr">
              <a:buNone/>
            </a:pPr>
            <a:r>
              <a:rPr lang="en-US" sz="3600" b="1" dirty="0">
                <a:solidFill>
                  <a:srgbClr val="F2A65A"/>
                </a:solidFill>
                <a:latin typeface="Cambria" pitchFamily="34" charset="0"/>
                <a:ea typeface="Cambria" pitchFamily="34" charset="-122"/>
                <a:cs typeface="Cambria" pitchFamily="34" charset="-120"/>
              </a:rPr>
              <a:t>57%</a:t>
            </a:r>
            <a:endParaRPr lang="en-US" sz="3600" dirty="0"/>
          </a:p>
        </p:txBody>
      </p:sp>
      <p:sp>
        <p:nvSpPr>
          <p:cNvPr id="12" name="Text 10"/>
          <p:cNvSpPr/>
          <p:nvPr/>
        </p:nvSpPr>
        <p:spPr>
          <a:xfrm>
            <a:off x="7589520" y="2788920"/>
            <a:ext cx="3291840" cy="365760"/>
          </a:xfrm>
          <a:prstGeom prst="rect">
            <a:avLst/>
          </a:prstGeom>
          <a:noFill/>
          <a:ln/>
        </p:spPr>
        <p:txBody>
          <a:bodyPr wrap="square" rtlCol="0" anchor="ctr"/>
          <a:lstStyle/>
          <a:p>
            <a:pPr marL="0" indent="0" algn="ctr">
              <a:buNone/>
            </a:pPr>
            <a:r>
              <a:rPr lang="en-US" sz="1300" dirty="0">
                <a:solidFill>
                  <a:srgbClr val="1E2761"/>
                </a:solidFill>
                <a:latin typeface="Calibri" pitchFamily="34" charset="0"/>
                <a:ea typeface="Calibri" pitchFamily="34" charset="-122"/>
                <a:cs typeface="Calibri" pitchFamily="34" charset="-120"/>
              </a:rPr>
              <a:t>Recall on &gt;$50K class</a:t>
            </a:r>
            <a:endParaRPr lang="en-US" sz="1300" dirty="0"/>
          </a:p>
        </p:txBody>
      </p:sp>
      <p:sp>
        <p:nvSpPr>
          <p:cNvPr id="13" name="Text 11"/>
          <p:cNvSpPr/>
          <p:nvPr/>
        </p:nvSpPr>
        <p:spPr>
          <a:xfrm>
            <a:off x="640080" y="3931920"/>
            <a:ext cx="10241280" cy="1005840"/>
          </a:xfrm>
          <a:prstGeom prst="rect">
            <a:avLst/>
          </a:prstGeom>
          <a:noFill/>
          <a:ln/>
        </p:spPr>
        <p:txBody>
          <a:bodyPr wrap="square" rtlCol="0" anchor="ctr"/>
          <a:lstStyle/>
          <a:p>
            <a:pPr marL="0" indent="0">
              <a:lnSpc>
                <a:spcPct val="125000"/>
              </a:lnSpc>
              <a:buNone/>
            </a:pPr>
            <a:r>
              <a:rPr lang="en-US" sz="1500" dirty="0">
                <a:solidFill>
                  <a:srgbClr val="1E2761"/>
                </a:solidFill>
                <a:latin typeface="Calibri" pitchFamily="34" charset="0"/>
                <a:ea typeface="Calibri" pitchFamily="34" charset="-122"/>
                <a:cs typeface="Calibri" pitchFamily="34" charset="-120"/>
              </a:rPr>
              <a:t>WHY: only ~25% of records are labeled &gt;$50K, so the model sees far fewer high-earner examples during training and is naturally more confident predicting the majority class. This is a general data-imbalance limitation, distinct from the group-level fairness issue explored next.</a:t>
            </a:r>
            <a:endParaRPr lang="en-US" sz="1500" dirty="0"/>
          </a:p>
        </p:txBody>
      </p:sp>
      <p:sp>
        <p:nvSpPr>
          <p:cNvPr id="14" name="Text 12"/>
          <p:cNvSpPr/>
          <p:nvPr/>
        </p:nvSpPr>
        <p:spPr>
          <a:xfrm>
            <a:off x="640080" y="5029200"/>
            <a:ext cx="5486400" cy="320040"/>
          </a:xfrm>
          <a:prstGeom prst="rect">
            <a:avLst/>
          </a:prstGeom>
          <a:noFill/>
          <a:ln/>
        </p:spPr>
        <p:txBody>
          <a:bodyPr wrap="square" rtlCol="0" anchor="ctr"/>
          <a:lstStyle/>
          <a:p>
            <a:pPr marL="0" indent="0">
              <a:buNone/>
            </a:pPr>
            <a:r>
              <a:rPr lang="en-US" sz="1100" b="1" dirty="0">
                <a:solidFill>
                  <a:srgbClr val="5B6B9C"/>
                </a:solidFill>
                <a:latin typeface="Calibri" pitchFamily="34" charset="0"/>
                <a:ea typeface="Calibri" pitchFamily="34" charset="-122"/>
                <a:cs typeface="Calibri" pitchFamily="34" charset="-120"/>
              </a:rPr>
              <a:t>TOP FACTORS DRIVING PREDICTIONS</a:t>
            </a:r>
            <a:endParaRPr lang="en-US" sz="1100" dirty="0"/>
          </a:p>
        </p:txBody>
      </p:sp>
      <p:graphicFrame>
        <p:nvGraphicFramePr>
          <p:cNvPr id="15" name="Chart 0"/>
          <p:cNvGraphicFramePr/>
          <p:nvPr/>
        </p:nvGraphicFramePr>
        <p:xfrm>
          <a:off x="640080" y="5349240"/>
          <a:ext cx="10241280" cy="1371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PART B — STEP 5</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Fairness Audit Results</a:t>
            </a:r>
            <a:endParaRPr lang="en-US" sz="3000" dirty="0"/>
          </a:p>
        </p:txBody>
      </p:sp>
      <p:sp>
        <p:nvSpPr>
          <p:cNvPr id="4" name="Text 2"/>
          <p:cNvSpPr/>
          <p:nvPr/>
        </p:nvSpPr>
        <p:spPr>
          <a:xfrm>
            <a:off x="640080" y="1554480"/>
            <a:ext cx="5303520" cy="320040"/>
          </a:xfrm>
          <a:prstGeom prst="rect">
            <a:avLst/>
          </a:prstGeom>
          <a:noFill/>
          <a:ln/>
        </p:spPr>
        <p:txBody>
          <a:bodyPr wrap="square" rtlCol="0" anchor="ctr"/>
          <a:lstStyle/>
          <a:p>
            <a:pPr marL="0" indent="0">
              <a:buNone/>
            </a:pPr>
            <a:r>
              <a:rPr lang="en-US" sz="1300" b="1" dirty="0">
                <a:solidFill>
                  <a:srgbClr val="5B6B9C"/>
                </a:solidFill>
                <a:latin typeface="Calibri" pitchFamily="34" charset="0"/>
                <a:ea typeface="Calibri" pitchFamily="34" charset="-122"/>
                <a:cs typeface="Calibri" pitchFamily="34" charset="-120"/>
              </a:rPr>
              <a:t>Positive Prediction Rate by Sex</a:t>
            </a:r>
            <a:endParaRPr lang="en-US" sz="1300" dirty="0"/>
          </a:p>
        </p:txBody>
      </p:sp>
      <p:graphicFrame>
        <p:nvGraphicFramePr>
          <p:cNvPr id="5" name="Chart 0"/>
          <p:cNvGraphicFramePr/>
          <p:nvPr/>
        </p:nvGraphicFramePr>
        <p:xfrm>
          <a:off x="640080" y="1920240"/>
          <a:ext cx="530352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309360" y="1554480"/>
            <a:ext cx="5303520" cy="320040"/>
          </a:xfrm>
          <a:prstGeom prst="rect">
            <a:avLst/>
          </a:prstGeom>
          <a:noFill/>
          <a:ln/>
        </p:spPr>
        <p:txBody>
          <a:bodyPr wrap="square" rtlCol="0" anchor="ctr"/>
          <a:lstStyle/>
          <a:p>
            <a:pPr marL="0" indent="0">
              <a:buNone/>
            </a:pPr>
            <a:r>
              <a:rPr lang="en-US" sz="1300" b="1" dirty="0">
                <a:solidFill>
                  <a:srgbClr val="5B6B9C"/>
                </a:solidFill>
                <a:latin typeface="Calibri" pitchFamily="34" charset="0"/>
                <a:ea typeface="Calibri" pitchFamily="34" charset="-122"/>
                <a:cs typeface="Calibri" pitchFamily="34" charset="-120"/>
              </a:rPr>
              <a:t>False Negative Rate by Race</a:t>
            </a:r>
            <a:endParaRPr lang="en-US" sz="1300" dirty="0"/>
          </a:p>
        </p:txBody>
      </p:sp>
      <p:graphicFrame>
        <p:nvGraphicFramePr>
          <p:cNvPr id="7" name="Chart 1"/>
          <p:cNvGraphicFramePr/>
          <p:nvPr/>
        </p:nvGraphicFramePr>
        <p:xfrm>
          <a:off x="6309360" y="1920240"/>
          <a:ext cx="5303520" cy="201168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640080" y="4434840"/>
            <a:ext cx="10972800" cy="1737360"/>
          </a:xfrm>
          <a:prstGeom prst="roundRect">
            <a:avLst>
              <a:gd name="adj" fmla="val 4211"/>
            </a:avLst>
          </a:prstGeom>
          <a:solidFill>
            <a:srgbClr val="1E2761"/>
          </a:solidFill>
          <a:ln/>
        </p:spPr>
      </p:sp>
      <p:sp>
        <p:nvSpPr>
          <p:cNvPr id="9" name="Text 5"/>
          <p:cNvSpPr/>
          <p:nvPr/>
        </p:nvSpPr>
        <p:spPr>
          <a:xfrm>
            <a:off x="914400" y="4434840"/>
            <a:ext cx="10424160" cy="1737360"/>
          </a:xfrm>
          <a:prstGeom prst="rect">
            <a:avLst/>
          </a:prstGeom>
          <a:noFill/>
          <a:ln/>
        </p:spPr>
        <p:txBody>
          <a:bodyPr wrap="square" rtlCol="0" anchor="ctr"/>
          <a:lstStyle/>
          <a:p>
            <a:pPr marL="0" indent="0">
              <a:lnSpc>
                <a:spcPct val="128000"/>
              </a:lnSpc>
              <a:buNone/>
            </a:pPr>
            <a:r>
              <a:rPr lang="en-US" sz="1450" dirty="0">
                <a:solidFill>
                  <a:srgbClr val="FFFFFF"/>
                </a:solidFill>
                <a:latin typeface="Calibri" pitchFamily="34" charset="0"/>
                <a:ea typeface="Calibri" pitchFamily="34" charset="-122"/>
                <a:cs typeface="Calibri" pitchFamily="34" charset="-120"/>
              </a:rPr>
              <a:t>WHY: relationship and marital status are two of the model's top-10 features by importance — and in this data, 12,462 of 12,463 people coded “Husband” are male, while 1,405 of 1,406 coded “Wife” are female. The model effectively reconstructs sex through these proxy features, and that reconstructed signal drives the prediction gaps above — even though sex itself was never a training column.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1005840"/>
            <a:ext cx="73152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KEY TAKEAWAY</a:t>
            </a:r>
            <a:endParaRPr lang="en-US" sz="1300" dirty="0"/>
          </a:p>
        </p:txBody>
      </p:sp>
      <p:sp>
        <p:nvSpPr>
          <p:cNvPr id="3" name="Text 1"/>
          <p:cNvSpPr/>
          <p:nvPr/>
        </p:nvSpPr>
        <p:spPr>
          <a:xfrm>
            <a:off x="822960" y="1463040"/>
            <a:ext cx="10515600" cy="1371600"/>
          </a:xfrm>
          <a:prstGeom prst="rect">
            <a:avLst/>
          </a:prstGeom>
          <a:noFill/>
          <a:ln/>
        </p:spPr>
        <p:txBody>
          <a:bodyPr wrap="square" rtlCol="0" anchor="ctr"/>
          <a:lstStyle/>
          <a:p>
            <a:pPr marL="0" indent="0">
              <a:lnSpc>
                <a:spcPct val="110000"/>
              </a:lnSpc>
              <a:buNone/>
            </a:pPr>
            <a:r>
              <a:rPr lang="en-US" sz="3200" b="1" dirty="0">
                <a:solidFill>
                  <a:srgbClr val="FFFFFF"/>
                </a:solidFill>
                <a:latin typeface="Cambria" pitchFamily="34" charset="0"/>
                <a:ea typeface="Cambria" pitchFamily="34" charset="-122"/>
                <a:cs typeface="Cambria" pitchFamily="34" charset="-120"/>
              </a:rPr>
              <a:t>“Fairness Through Unawareness” Doesn't Work</a:t>
            </a:r>
            <a:endParaRPr lang="en-US" sz="3200" dirty="0"/>
          </a:p>
        </p:txBody>
      </p:sp>
      <p:sp>
        <p:nvSpPr>
          <p:cNvPr id="4" name="Text 2"/>
          <p:cNvSpPr/>
          <p:nvPr/>
        </p:nvSpPr>
        <p:spPr>
          <a:xfrm>
            <a:off x="822960" y="3017520"/>
            <a:ext cx="6583680" cy="1828800"/>
          </a:xfrm>
          <a:prstGeom prst="rect">
            <a:avLst/>
          </a:prstGeom>
          <a:noFill/>
          <a:ln/>
        </p:spPr>
        <p:txBody>
          <a:bodyPr wrap="square" rtlCol="0" anchor="ctr"/>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Removing a sensitive attribute from a model's training data feels like a fair, neutral solution — but it isn't. Other features act as proxies: occupation, marital status, and hours worked all correlate with sex and race, so the model reconstructs the pattern anyway.</a:t>
            </a:r>
            <a:endParaRPr lang="en-US" sz="1600" dirty="0"/>
          </a:p>
        </p:txBody>
      </p:sp>
      <p:sp>
        <p:nvSpPr>
          <p:cNvPr id="5" name="Shape 3"/>
          <p:cNvSpPr/>
          <p:nvPr/>
        </p:nvSpPr>
        <p:spPr>
          <a:xfrm>
            <a:off x="822960" y="5029200"/>
            <a:ext cx="6583680" cy="1280160"/>
          </a:xfrm>
          <a:prstGeom prst="roundRect">
            <a:avLst>
              <a:gd name="adj" fmla="val 5714"/>
            </a:avLst>
          </a:prstGeom>
          <a:solidFill>
            <a:srgbClr val="2A3670"/>
          </a:solidFill>
          <a:ln/>
        </p:spPr>
      </p:sp>
      <p:sp>
        <p:nvSpPr>
          <p:cNvPr id="6" name="Text 4"/>
          <p:cNvSpPr/>
          <p:nvPr/>
        </p:nvSpPr>
        <p:spPr>
          <a:xfrm>
            <a:off x="1051560" y="5029200"/>
            <a:ext cx="6126480" cy="1280160"/>
          </a:xfrm>
          <a:prstGeom prst="rect">
            <a:avLst/>
          </a:prstGeom>
          <a:noFill/>
          <a:ln/>
        </p:spPr>
        <p:txBody>
          <a:bodyPr wrap="square" rtlCol="0" anchor="ctr"/>
          <a:lstStyle/>
          <a:p>
            <a:pPr marL="0" indent="0">
              <a:lnSpc>
                <a:spcPct val="120000"/>
              </a:lnSpc>
              <a:buNone/>
            </a:pPr>
            <a:r>
              <a:rPr lang="en-US" sz="1500" b="1" i="1" dirty="0">
                <a:solidFill>
                  <a:srgbClr val="FFFFFF"/>
                </a:solidFill>
                <a:latin typeface="Calibri" pitchFamily="34" charset="0"/>
                <a:ea typeface="Calibri" pitchFamily="34" charset="-122"/>
                <a:cs typeface="Calibri" pitchFamily="34" charset="-120"/>
              </a:rPr>
              <a:t>True fairness requires actively measuring outcomes across groups — not just hiding the labels.</a:t>
            </a:r>
            <a:endParaRPr lang="en-US" sz="1500" dirty="0"/>
          </a:p>
        </p:txBody>
      </p:sp>
      <p:sp>
        <p:nvSpPr>
          <p:cNvPr id="7" name="Shape 5"/>
          <p:cNvSpPr/>
          <p:nvPr/>
        </p:nvSpPr>
        <p:spPr>
          <a:xfrm>
            <a:off x="8503920" y="2926080"/>
            <a:ext cx="2834640" cy="2834640"/>
          </a:xfrm>
          <a:prstGeom prst="ellipse">
            <a:avLst/>
          </a:prstGeom>
          <a:solidFill>
            <a:srgbClr val="2A3670"/>
          </a:solidFill>
          <a:ln/>
        </p:spPr>
      </p:sp>
      <p:sp>
        <p:nvSpPr>
          <p:cNvPr id="8" name="Text 6"/>
          <p:cNvSpPr/>
          <p:nvPr/>
        </p:nvSpPr>
        <p:spPr>
          <a:xfrm>
            <a:off x="8503920" y="2926080"/>
            <a:ext cx="2834640" cy="2834640"/>
          </a:xfrm>
          <a:prstGeom prst="rect">
            <a:avLst/>
          </a:prstGeom>
          <a:noFill/>
          <a:ln/>
        </p:spPr>
        <p:txBody>
          <a:bodyPr wrap="square" rtlCol="0" anchor="ctr"/>
          <a:lstStyle/>
          <a:p>
            <a:pPr marL="0" indent="0" algn="ctr">
              <a:buNone/>
            </a:pPr>
            <a:r>
              <a:rPr lang="en-US" sz="9000" dirty="0">
                <a:solidFill>
                  <a:srgbClr val="000000"/>
                </a:solidFill>
              </a:rPr>
              <a:t>⚖</a:t>
            </a:r>
            <a:endParaRPr lang="en-US" sz="9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PART B — STEP 4</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Streamlit App</a:t>
            </a:r>
            <a:endParaRPr lang="en-US" sz="3000" dirty="0"/>
          </a:p>
        </p:txBody>
      </p:sp>
      <p:sp>
        <p:nvSpPr>
          <p:cNvPr id="4" name="Text 2"/>
          <p:cNvSpPr/>
          <p:nvPr/>
        </p:nvSpPr>
        <p:spPr>
          <a:xfrm>
            <a:off x="640080" y="1463040"/>
            <a:ext cx="10607040" cy="685800"/>
          </a:xfrm>
          <a:prstGeom prst="rect">
            <a:avLst/>
          </a:prstGeom>
          <a:noFill/>
          <a:ln/>
        </p:spPr>
        <p:txBody>
          <a:bodyPr wrap="square" rtlCol="0" anchor="ctr"/>
          <a:lstStyle/>
          <a:p>
            <a:pPr marL="0" indent="0">
              <a:lnSpc>
                <a:spcPct val="120000"/>
              </a:lnSpc>
              <a:buNone/>
            </a:pPr>
            <a:r>
              <a:rPr lang="en-US" sz="1350" dirty="0">
                <a:solidFill>
                  <a:srgbClr val="1E2761"/>
                </a:solidFill>
                <a:latin typeface="Calibri" pitchFamily="34" charset="0"/>
                <a:ea typeface="Calibri" pitchFamily="34" charset="-122"/>
                <a:cs typeface="Calibri" pitchFamily="34" charset="-120"/>
              </a:rPr>
              <a:t>A user enters a hypothetical person's details and receives a live income prediction with a confidence score, plus a plain-language reason behind it.</a:t>
            </a:r>
            <a:endParaRPr lang="en-US" sz="1350" dirty="0"/>
          </a:p>
        </p:txBody>
      </p:sp>
      <p:sp>
        <p:nvSpPr>
          <p:cNvPr id="5" name="Text 3"/>
          <p:cNvSpPr/>
          <p:nvPr/>
        </p:nvSpPr>
        <p:spPr>
          <a:xfrm>
            <a:off x="640080" y="2148840"/>
            <a:ext cx="5074920" cy="320040"/>
          </a:xfrm>
          <a:prstGeom prst="rect">
            <a:avLst/>
          </a:prstGeom>
          <a:noFill/>
          <a:ln/>
        </p:spPr>
        <p:txBody>
          <a:bodyPr wrap="square" rtlCol="0" anchor="ctr"/>
          <a:lstStyle/>
          <a:p>
            <a:pPr marL="0" indent="0">
              <a:buNone/>
            </a:pPr>
            <a:r>
              <a:rPr lang="en-US" sz="1200" b="1" dirty="0">
                <a:solidFill>
                  <a:srgbClr val="5B6B9C"/>
                </a:solidFill>
                <a:latin typeface="Calibri" pitchFamily="34" charset="0"/>
                <a:ea typeface="Calibri" pitchFamily="34" charset="-122"/>
                <a:cs typeface="Calibri" pitchFamily="34" charset="-120"/>
              </a:rPr>
              <a:t>INPUT FORM</a:t>
            </a:r>
            <a:endParaRPr lang="en-US" sz="1200" dirty="0"/>
          </a:p>
        </p:txBody>
      </p:sp>
      <p:sp>
        <p:nvSpPr>
          <p:cNvPr id="7" name="Text 5"/>
          <p:cNvSpPr/>
          <p:nvPr/>
        </p:nvSpPr>
        <p:spPr>
          <a:xfrm>
            <a:off x="640080" y="3977640"/>
            <a:ext cx="5074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8" name="Text 6"/>
          <p:cNvSpPr/>
          <p:nvPr/>
        </p:nvSpPr>
        <p:spPr>
          <a:xfrm>
            <a:off x="914400" y="4800600"/>
            <a:ext cx="4526280" cy="457200"/>
          </a:xfrm>
          <a:prstGeom prst="rect">
            <a:avLst/>
          </a:prstGeom>
          <a:noFill/>
          <a:ln/>
        </p:spPr>
        <p:txBody>
          <a:bodyPr wrap="square" rtlCol="0" anchor="ctr"/>
          <a:lstStyle/>
          <a:p>
            <a:pPr marL="0" indent="0" algn="ctr">
              <a:buNone/>
            </a:pPr>
            <a:r>
              <a:rPr lang="en-US" sz="1200" i="1" dirty="0">
                <a:solidFill>
                  <a:srgbClr val="5B6B9C"/>
                </a:solidFill>
                <a:latin typeface="Calibri" pitchFamily="34" charset="0"/>
                <a:ea typeface="Calibri" pitchFamily="34" charset="-122"/>
                <a:cs typeface="Calibri" pitchFamily="34" charset="-120"/>
              </a:rPr>
              <a:t>[ Screenshot: Enter Details form ]</a:t>
            </a:r>
            <a:endParaRPr lang="en-US" sz="1200" dirty="0"/>
          </a:p>
        </p:txBody>
      </p:sp>
      <p:sp>
        <p:nvSpPr>
          <p:cNvPr id="9" name="Text 7"/>
          <p:cNvSpPr/>
          <p:nvPr/>
        </p:nvSpPr>
        <p:spPr>
          <a:xfrm>
            <a:off x="6473952" y="2148840"/>
            <a:ext cx="5074920" cy="320040"/>
          </a:xfrm>
          <a:prstGeom prst="rect">
            <a:avLst/>
          </a:prstGeom>
          <a:noFill/>
          <a:ln/>
        </p:spPr>
        <p:txBody>
          <a:bodyPr wrap="square" rtlCol="0" anchor="ctr"/>
          <a:lstStyle/>
          <a:p>
            <a:pPr marL="0" indent="0">
              <a:buNone/>
            </a:pPr>
            <a:r>
              <a:rPr lang="en-US" sz="1200" b="1" dirty="0">
                <a:solidFill>
                  <a:srgbClr val="5B6B9C"/>
                </a:solidFill>
                <a:latin typeface="Calibri" pitchFamily="34" charset="0"/>
                <a:ea typeface="Calibri" pitchFamily="34" charset="-122"/>
                <a:cs typeface="Calibri" pitchFamily="34" charset="-120"/>
              </a:rPr>
              <a:t>RESULT + REASONING</a:t>
            </a:r>
            <a:endParaRPr lang="en-US" sz="1200" dirty="0"/>
          </a:p>
        </p:txBody>
      </p:sp>
      <p:sp>
        <p:nvSpPr>
          <p:cNvPr id="11" name="Text 9"/>
          <p:cNvSpPr/>
          <p:nvPr/>
        </p:nvSpPr>
        <p:spPr>
          <a:xfrm>
            <a:off x="6473952" y="3977640"/>
            <a:ext cx="5074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6748272" y="4800600"/>
            <a:ext cx="4526280" cy="457200"/>
          </a:xfrm>
          <a:prstGeom prst="rect">
            <a:avLst/>
          </a:prstGeom>
          <a:noFill/>
          <a:ln/>
        </p:spPr>
        <p:txBody>
          <a:bodyPr wrap="square" rtlCol="0" anchor="ctr"/>
          <a:lstStyle/>
          <a:p>
            <a:pPr marL="0" indent="0" algn="ctr">
              <a:buNone/>
            </a:pPr>
            <a:r>
              <a:rPr lang="en-US" sz="1200" i="1" dirty="0">
                <a:solidFill>
                  <a:srgbClr val="5B6B9C"/>
                </a:solidFill>
                <a:latin typeface="Calibri" pitchFamily="34" charset="0"/>
                <a:ea typeface="Calibri" pitchFamily="34" charset="-122"/>
                <a:cs typeface="Calibri" pitchFamily="34" charset="-120"/>
              </a:rPr>
              <a:t>[ Screenshot: prediction + "Why This Kind of Result?" chart ]</a:t>
            </a:r>
            <a:endParaRPr lang="en-US" sz="1200" dirty="0"/>
          </a:p>
        </p:txBody>
      </p:sp>
      <p:pic>
        <p:nvPicPr>
          <p:cNvPr id="14" name="Picture 13">
            <a:extLst>
              <a:ext uri="{FF2B5EF4-FFF2-40B4-BE49-F238E27FC236}">
                <a16:creationId xmlns:a16="http://schemas.microsoft.com/office/drawing/2014/main" id="{4445503B-CF01-49AB-9AD2-0010E71D34B9}"/>
              </a:ext>
            </a:extLst>
          </p:cNvPr>
          <p:cNvPicPr>
            <a:picLocks noChangeAspect="1"/>
          </p:cNvPicPr>
          <p:nvPr/>
        </p:nvPicPr>
        <p:blipFill>
          <a:blip r:embed="rId3"/>
          <a:stretch>
            <a:fillRect/>
          </a:stretch>
        </p:blipFill>
        <p:spPr>
          <a:xfrm>
            <a:off x="62754" y="2514600"/>
            <a:ext cx="5558118" cy="4199965"/>
          </a:xfrm>
          <a:prstGeom prst="rect">
            <a:avLst/>
          </a:prstGeom>
        </p:spPr>
      </p:pic>
      <p:pic>
        <p:nvPicPr>
          <p:cNvPr id="16" name="Picture 15">
            <a:extLst>
              <a:ext uri="{FF2B5EF4-FFF2-40B4-BE49-F238E27FC236}">
                <a16:creationId xmlns:a16="http://schemas.microsoft.com/office/drawing/2014/main" id="{34A5DCA4-FD08-4AD1-B76A-8DA05180BBFF}"/>
              </a:ext>
            </a:extLst>
          </p:cNvPr>
          <p:cNvPicPr>
            <a:picLocks noChangeAspect="1"/>
          </p:cNvPicPr>
          <p:nvPr/>
        </p:nvPicPr>
        <p:blipFill>
          <a:blip r:embed="rId4"/>
          <a:stretch>
            <a:fillRect/>
          </a:stretch>
        </p:blipFill>
        <p:spPr>
          <a:xfrm>
            <a:off x="5715000" y="2639881"/>
            <a:ext cx="5806440" cy="34070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5B6B9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640080" y="685800"/>
            <a:ext cx="1078992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Recommendations</a:t>
            </a:r>
            <a:endParaRPr lang="en-US" sz="3000" dirty="0"/>
          </a:p>
        </p:txBody>
      </p:sp>
      <p:sp>
        <p:nvSpPr>
          <p:cNvPr id="4" name="Shape 2"/>
          <p:cNvSpPr/>
          <p:nvPr/>
        </p:nvSpPr>
        <p:spPr>
          <a:xfrm>
            <a:off x="640080" y="1737360"/>
            <a:ext cx="5212080" cy="1874520"/>
          </a:xfrm>
          <a:prstGeom prst="roundRect">
            <a:avLst>
              <a:gd name="adj" fmla="val 3902"/>
            </a:avLst>
          </a:prstGeom>
          <a:solidFill>
            <a:srgbClr val="CADCFC"/>
          </a:solidFill>
          <a:ln/>
        </p:spPr>
      </p:sp>
      <p:sp>
        <p:nvSpPr>
          <p:cNvPr id="5" name="Text 3"/>
          <p:cNvSpPr/>
          <p:nvPr/>
        </p:nvSpPr>
        <p:spPr>
          <a:xfrm>
            <a:off x="914400" y="1920240"/>
            <a:ext cx="466344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Don't deploy on unaudited output</a:t>
            </a:r>
            <a:endParaRPr lang="en-US" sz="1500" dirty="0"/>
          </a:p>
        </p:txBody>
      </p:sp>
      <p:sp>
        <p:nvSpPr>
          <p:cNvPr id="6" name="Text 4"/>
          <p:cNvSpPr/>
          <p:nvPr/>
        </p:nvSpPr>
        <p:spPr>
          <a:xfrm>
            <a:off x="914400" y="2514600"/>
            <a:ext cx="4663440" cy="1005840"/>
          </a:xfrm>
          <a:prstGeom prst="rect">
            <a:avLst/>
          </a:prstGeom>
          <a:noFill/>
          <a:ln/>
        </p:spPr>
        <p:txBody>
          <a:bodyPr wrap="square" rtlCol="0" anchor="ctr"/>
          <a:lstStyle/>
          <a:p>
            <a:pPr marL="0" indent="0">
              <a:lnSpc>
                <a:spcPct val="120000"/>
              </a:lnSpc>
              <a:buNone/>
            </a:pPr>
            <a:r>
              <a:rPr lang="en-US" sz="1250" dirty="0">
                <a:solidFill>
                  <a:srgbClr val="1E2761"/>
                </a:solidFill>
                <a:latin typeface="Calibri" pitchFamily="34" charset="0"/>
                <a:ea typeface="Calibri" pitchFamily="34" charset="-122"/>
                <a:cs typeface="Calibri" pitchFamily="34" charset="-120"/>
              </a:rPr>
              <a:t>A model with 86% accuracy can still fail specific groups badly — audit before trusting it in production.</a:t>
            </a:r>
            <a:endParaRPr lang="en-US" sz="1250" dirty="0"/>
          </a:p>
        </p:txBody>
      </p:sp>
      <p:sp>
        <p:nvSpPr>
          <p:cNvPr id="7" name="Shape 5"/>
          <p:cNvSpPr/>
          <p:nvPr/>
        </p:nvSpPr>
        <p:spPr>
          <a:xfrm>
            <a:off x="6217920" y="1737360"/>
            <a:ext cx="5212080" cy="1874520"/>
          </a:xfrm>
          <a:prstGeom prst="roundRect">
            <a:avLst>
              <a:gd name="adj" fmla="val 3902"/>
            </a:avLst>
          </a:prstGeom>
          <a:solidFill>
            <a:srgbClr val="FBEFE0"/>
          </a:solidFill>
          <a:ln/>
        </p:spPr>
      </p:sp>
      <p:sp>
        <p:nvSpPr>
          <p:cNvPr id="8" name="Text 6"/>
          <p:cNvSpPr/>
          <p:nvPr/>
        </p:nvSpPr>
        <p:spPr>
          <a:xfrm>
            <a:off x="6492240" y="1920240"/>
            <a:ext cx="466344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Add group-fairness metrics to evaluation</a:t>
            </a:r>
            <a:endParaRPr lang="en-US" sz="1500" dirty="0"/>
          </a:p>
        </p:txBody>
      </p:sp>
      <p:sp>
        <p:nvSpPr>
          <p:cNvPr id="9" name="Text 7"/>
          <p:cNvSpPr/>
          <p:nvPr/>
        </p:nvSpPr>
        <p:spPr>
          <a:xfrm>
            <a:off x="6492240" y="2514600"/>
            <a:ext cx="4663440" cy="1005840"/>
          </a:xfrm>
          <a:prstGeom prst="rect">
            <a:avLst/>
          </a:prstGeom>
          <a:noFill/>
          <a:ln/>
        </p:spPr>
        <p:txBody>
          <a:bodyPr wrap="square" rtlCol="0" anchor="ctr"/>
          <a:lstStyle/>
          <a:p>
            <a:pPr marL="0" indent="0">
              <a:lnSpc>
                <a:spcPct val="120000"/>
              </a:lnSpc>
              <a:buNone/>
            </a:pPr>
            <a:r>
              <a:rPr lang="en-US" sz="1250" dirty="0">
                <a:solidFill>
                  <a:srgbClr val="1E2761"/>
                </a:solidFill>
                <a:latin typeface="Calibri" pitchFamily="34" charset="0"/>
                <a:ea typeface="Calibri" pitchFamily="34" charset="-122"/>
                <a:cs typeface="Calibri" pitchFamily="34" charset="-120"/>
              </a:rPr>
              <a:t>Track demographic parity and false negative rate gaps as standard reporting, not an afterthought.</a:t>
            </a:r>
            <a:endParaRPr lang="en-US" sz="1250" dirty="0"/>
          </a:p>
        </p:txBody>
      </p:sp>
      <p:sp>
        <p:nvSpPr>
          <p:cNvPr id="10" name="Shape 8"/>
          <p:cNvSpPr/>
          <p:nvPr/>
        </p:nvSpPr>
        <p:spPr>
          <a:xfrm>
            <a:off x="640080" y="3931920"/>
            <a:ext cx="5212080" cy="1874520"/>
          </a:xfrm>
          <a:prstGeom prst="roundRect">
            <a:avLst>
              <a:gd name="adj" fmla="val 3902"/>
            </a:avLst>
          </a:prstGeom>
          <a:solidFill>
            <a:srgbClr val="CADCFC"/>
          </a:solidFill>
          <a:ln/>
        </p:spPr>
      </p:sp>
      <p:sp>
        <p:nvSpPr>
          <p:cNvPr id="11" name="Text 9"/>
          <p:cNvSpPr/>
          <p:nvPr/>
        </p:nvSpPr>
        <p:spPr>
          <a:xfrm>
            <a:off x="914400" y="4114800"/>
            <a:ext cx="466344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Consider reweighting or resampling</a:t>
            </a:r>
            <a:endParaRPr lang="en-US" sz="1500" dirty="0"/>
          </a:p>
        </p:txBody>
      </p:sp>
      <p:sp>
        <p:nvSpPr>
          <p:cNvPr id="12" name="Text 10"/>
          <p:cNvSpPr/>
          <p:nvPr/>
        </p:nvSpPr>
        <p:spPr>
          <a:xfrm>
            <a:off x="914400" y="4709160"/>
            <a:ext cx="4663440" cy="1005840"/>
          </a:xfrm>
          <a:prstGeom prst="rect">
            <a:avLst/>
          </a:prstGeom>
          <a:noFill/>
          <a:ln/>
        </p:spPr>
        <p:txBody>
          <a:bodyPr wrap="square" rtlCol="0" anchor="ctr"/>
          <a:lstStyle/>
          <a:p>
            <a:pPr marL="0" indent="0">
              <a:lnSpc>
                <a:spcPct val="120000"/>
              </a:lnSpc>
              <a:buNone/>
            </a:pPr>
            <a:r>
              <a:rPr lang="en-US" sz="1250" dirty="0">
                <a:solidFill>
                  <a:srgbClr val="1E2761"/>
                </a:solidFill>
                <a:latin typeface="Calibri" pitchFamily="34" charset="0"/>
                <a:ea typeface="Calibri" pitchFamily="34" charset="-122"/>
                <a:cs typeface="Calibri" pitchFamily="34" charset="-120"/>
              </a:rPr>
              <a:t>Techniques like class reweighting during training could narrow the gap without sacrificing much accuracy.</a:t>
            </a:r>
            <a:endParaRPr lang="en-US" sz="1250" dirty="0"/>
          </a:p>
        </p:txBody>
      </p:sp>
      <p:sp>
        <p:nvSpPr>
          <p:cNvPr id="13" name="Shape 11"/>
          <p:cNvSpPr/>
          <p:nvPr/>
        </p:nvSpPr>
        <p:spPr>
          <a:xfrm>
            <a:off x="6217920" y="3931920"/>
            <a:ext cx="5212080" cy="1874520"/>
          </a:xfrm>
          <a:prstGeom prst="roundRect">
            <a:avLst>
              <a:gd name="adj" fmla="val 3902"/>
            </a:avLst>
          </a:prstGeom>
          <a:solidFill>
            <a:srgbClr val="FBEFE0"/>
          </a:solidFill>
          <a:ln/>
        </p:spPr>
      </p:sp>
      <p:sp>
        <p:nvSpPr>
          <p:cNvPr id="14" name="Text 12"/>
          <p:cNvSpPr/>
          <p:nvPr/>
        </p:nvSpPr>
        <p:spPr>
          <a:xfrm>
            <a:off x="6492240" y="4114800"/>
            <a:ext cx="466344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Treat fairness as a design choice, not a default</a:t>
            </a:r>
            <a:endParaRPr lang="en-US" sz="1500" dirty="0"/>
          </a:p>
        </p:txBody>
      </p:sp>
      <p:sp>
        <p:nvSpPr>
          <p:cNvPr id="15" name="Text 13"/>
          <p:cNvSpPr/>
          <p:nvPr/>
        </p:nvSpPr>
        <p:spPr>
          <a:xfrm>
            <a:off x="6492240" y="4709160"/>
            <a:ext cx="4663440" cy="1005840"/>
          </a:xfrm>
          <a:prstGeom prst="rect">
            <a:avLst/>
          </a:prstGeom>
          <a:noFill/>
          <a:ln/>
        </p:spPr>
        <p:txBody>
          <a:bodyPr wrap="square" rtlCol="0" anchor="ctr"/>
          <a:lstStyle/>
          <a:p>
            <a:pPr marL="0" indent="0">
              <a:lnSpc>
                <a:spcPct val="120000"/>
              </a:lnSpc>
              <a:buNone/>
            </a:pPr>
            <a:r>
              <a:rPr lang="en-US" sz="1250" dirty="0">
                <a:solidFill>
                  <a:srgbClr val="1E2761"/>
                </a:solidFill>
                <a:latin typeface="Calibri" pitchFamily="34" charset="0"/>
                <a:ea typeface="Calibri" pitchFamily="34" charset="-122"/>
                <a:cs typeface="Calibri" pitchFamily="34" charset="-120"/>
              </a:rPr>
              <a:t>Excluding sensitive attributes is a start, not a guarantee — it must be paired with active measurement.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4965</TotalTime>
  <Words>872</Words>
  <Application>Microsoft Office PowerPoint</Application>
  <PresentationFormat>Widescreen</PresentationFormat>
  <Paragraphs>109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Adewusi</cp:lastModifiedBy>
  <cp:revision>5</cp:revision>
  <dcterms:created xsi:type="dcterms:W3CDTF">2026-08-18T02:41:36Z</dcterms:created>
  <dcterms:modified xsi:type="dcterms:W3CDTF">2026-08-21T13:43:55Z</dcterms:modified>
</cp:coreProperties>
</file>